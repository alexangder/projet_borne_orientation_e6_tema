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268" r:id="rId3"/>
    <p:sldId id="257" r:id="rId4"/>
    <p:sldId id="269" r:id="rId5"/>
    <p:sldId id="266" r:id="rId6"/>
    <p:sldId id="267" r:id="rId7"/>
    <p:sldId id="270" r:id="rId8"/>
    <p:sldId id="271" r:id="rId9"/>
    <p:sldId id="272" r:id="rId10"/>
    <p:sldId id="273" r:id="rId11"/>
    <p:sldId id="258" r:id="rId12"/>
    <p:sldId id="289" r:id="rId13"/>
    <p:sldId id="260" r:id="rId14"/>
    <p:sldId id="261" r:id="rId15"/>
    <p:sldId id="263" r:id="rId16"/>
    <p:sldId id="274" r:id="rId17"/>
    <p:sldId id="259" r:id="rId18"/>
    <p:sldId id="284" r:id="rId19"/>
    <p:sldId id="286" r:id="rId20"/>
    <p:sldId id="287" r:id="rId21"/>
    <p:sldId id="264" r:id="rId22"/>
    <p:sldId id="262" r:id="rId23"/>
    <p:sldId id="276" r:id="rId24"/>
    <p:sldId id="275" r:id="rId25"/>
    <p:sldId id="265" r:id="rId26"/>
    <p:sldId id="278" r:id="rId27"/>
    <p:sldId id="293" r:id="rId28"/>
    <p:sldId id="279" r:id="rId29"/>
    <p:sldId id="294" r:id="rId30"/>
    <p:sldId id="281" r:id="rId31"/>
    <p:sldId id="291" r:id="rId32"/>
    <p:sldId id="285" r:id="rId33"/>
    <p:sldId id="288" r:id="rId34"/>
    <p:sldId id="290" r:id="rId35"/>
    <p:sldId id="295" r:id="rId36"/>
    <p:sldId id="296" r:id="rId37"/>
    <p:sldId id="292" r:id="rId38"/>
    <p:sldId id="282" r:id="rId39"/>
  </p:sldIdLst>
  <p:sldSz cx="9144000" cy="6858000" type="screen4x3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49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6AA49241-7C1C-4150-8820-6D6A103858A7}" type="datetimeFigureOut">
              <a:rPr lang="fr-FR" smtClean="0"/>
              <a:pPr/>
              <a:t>11/09/2023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030E0E5-AA7C-4567-843A-9CF7E2609F4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11282-E589-41B6-8615-A03787A02B28}" type="datetime1">
              <a:rPr lang="fr-FR" smtClean="0"/>
              <a:t>11/09/2023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3C9E-F619-4656-B9BC-F486A4F4DD00}" type="datetime1">
              <a:rPr lang="fr-FR" smtClean="0"/>
              <a:t>11/09/2023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5E043-FA33-422A-9418-560B17148A51}" type="datetime1">
              <a:rPr lang="fr-FR" smtClean="0"/>
              <a:t>11/09/2023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E34B6-3F83-4C35-BF83-4530F5C1AF32}" type="datetime1">
              <a:rPr lang="fr-FR" smtClean="0"/>
              <a:t>11/09/2023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D5E-17E6-4C2B-B73C-12026A42819C}" type="datetime1">
              <a:rPr lang="fr-FR" smtClean="0"/>
              <a:t>11/09/2023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8C11-7F5D-40E8-AA70-52F2B335F47A}" type="datetime1">
              <a:rPr lang="fr-FR" smtClean="0"/>
              <a:t>11/09/2023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23BC-A997-424B-8963-C0BB7E4439EA}" type="datetime1">
              <a:rPr lang="fr-FR" smtClean="0"/>
              <a:t>11/09/2023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A04A-E5FF-49C7-8C1A-A5F65D78B0EB}" type="datetime1">
              <a:rPr lang="fr-FR" smtClean="0"/>
              <a:t>11/09/2023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E741-4FBF-474E-98B2-00BF85C9D64A}" type="datetime1">
              <a:rPr lang="fr-FR" smtClean="0"/>
              <a:t>11/09/2023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502E-43E0-48D8-8CA2-61D904831F6A}" type="datetime1">
              <a:rPr lang="fr-FR" smtClean="0"/>
              <a:t>11/09/2023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D18C-0F5D-4B58-B41F-B43B3B61E59B}" type="datetime1">
              <a:rPr lang="fr-FR" smtClean="0"/>
              <a:t>11/09/2023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28633-C15F-4C1D-A886-06BDAF9C169F}" type="datetime1">
              <a:rPr lang="fr-FR" smtClean="0"/>
              <a:t>11/09/2023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dnarelli2022BTSSNIR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FA472-388B-4331-8764-DC7C96C7297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50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FRONT-END DEV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SUPPORT DE COURS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767013"/>
            <a:ext cx="64008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500034" y="571480"/>
            <a:ext cx="8169096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RAPPELS DES LOCALISATIONS DES APPELATIONS, DES LANGAGES, DES TRANSACTIONS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1357290" y="1643050"/>
            <a:ext cx="1428760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CLIENT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3929058" y="1643050"/>
            <a:ext cx="1428760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SERVEUR WEB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6429388" y="1643050"/>
            <a:ext cx="1428760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SERVEUR BDD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428728" y="1142984"/>
            <a:ext cx="1301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FRONT-END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572264" y="1142984"/>
            <a:ext cx="1156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BACK-END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0" y="2357430"/>
            <a:ext cx="1076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/>
              <a:t>LOGICIELS-&gt;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1357290" y="2357430"/>
            <a:ext cx="140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NAVIGATEUR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643306" y="2357430"/>
            <a:ext cx="20256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APACHE</a:t>
            </a:r>
          </a:p>
          <a:p>
            <a:pPr algn="ctr"/>
            <a:r>
              <a:rPr lang="fr-FR" sz="1400" dirty="0"/>
              <a:t>ou </a:t>
            </a:r>
            <a:r>
              <a:rPr lang="fr-FR" sz="1400" b="1" dirty="0"/>
              <a:t>SERVEUR</a:t>
            </a:r>
            <a:r>
              <a:rPr lang="fr-FR" sz="1400" dirty="0"/>
              <a:t> sous node.js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6786578" y="2357430"/>
            <a:ext cx="851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MYSQL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0" y="4071942"/>
            <a:ext cx="1137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/>
              <a:t>LANGAGES-&gt;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0" y="2071678"/>
            <a:ext cx="1359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Exemples de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357290" y="4071942"/>
            <a:ext cx="127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JAVASCRIPT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0" y="4500570"/>
            <a:ext cx="1657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/>
              <a:t>LANGAGES </a:t>
            </a:r>
          </a:p>
          <a:p>
            <a:r>
              <a:rPr lang="fr-FR" sz="1400" b="1" dirty="0"/>
              <a:t>DE DESCRIPTIONS-&gt;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4143372" y="4214818"/>
            <a:ext cx="127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JAVASCRIPT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4071934" y="3857628"/>
            <a:ext cx="1272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PHP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1643042" y="4714884"/>
            <a:ext cx="7360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</a:t>
            </a:r>
          </a:p>
          <a:p>
            <a:r>
              <a:rPr lang="fr-FR" dirty="0"/>
              <a:t>XML</a:t>
            </a:r>
          </a:p>
          <a:p>
            <a:r>
              <a:rPr lang="fr-FR" dirty="0"/>
              <a:t>JSON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1643042" y="5572140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CSS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4357686" y="4572008"/>
            <a:ext cx="75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C/C++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7000892" y="407194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SQL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6715140" y="4357694"/>
            <a:ext cx="127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JAVASCRIPT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496" y="5357826"/>
            <a:ext cx="1428760" cy="941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00760" y="5429264"/>
            <a:ext cx="1857356" cy="887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" name="Flèche gauche 27"/>
          <p:cNvSpPr/>
          <p:nvPr/>
        </p:nvSpPr>
        <p:spPr>
          <a:xfrm>
            <a:off x="5500694" y="5643578"/>
            <a:ext cx="357190" cy="3571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Flèche vers le haut 28"/>
          <p:cNvSpPr/>
          <p:nvPr/>
        </p:nvSpPr>
        <p:spPr>
          <a:xfrm>
            <a:off x="4500562" y="4929198"/>
            <a:ext cx="428628" cy="28575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Légende encadrée 2 29"/>
          <p:cNvSpPr/>
          <p:nvPr/>
        </p:nvSpPr>
        <p:spPr>
          <a:xfrm>
            <a:off x="928662" y="5929330"/>
            <a:ext cx="2286016" cy="500066"/>
          </a:xfrm>
          <a:prstGeom prst="borderCallout2">
            <a:avLst>
              <a:gd name="adj1" fmla="val -27827"/>
              <a:gd name="adj2" fmla="val 79214"/>
              <a:gd name="adj3" fmla="val -122705"/>
              <a:gd name="adj4" fmla="val 79936"/>
              <a:gd name="adj5" fmla="val -520596"/>
              <a:gd name="adj6" fmla="val 101634"/>
            </a:avLst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REQUETE HTTP /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RESPONSE HTTP</a:t>
            </a:r>
          </a:p>
        </p:txBody>
      </p:sp>
      <p:sp>
        <p:nvSpPr>
          <p:cNvPr id="31" name="Espace réservé du numéro de diapositive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928662" y="5929330"/>
            <a:ext cx="6581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Illustrations : https://itexpert.fr/blog/architecture-3-tiers-en-images/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571480"/>
            <a:ext cx="7943557" cy="1434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1857364"/>
            <a:ext cx="6353177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767013"/>
            <a:ext cx="64008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500034" y="571480"/>
            <a:ext cx="8169096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RAPPELS DES LOCALISATIONS DES APPELATIONS, DES LANGAGES, DES TRANSACTIONS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1357290" y="1643050"/>
            <a:ext cx="1428760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CLIENT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3929058" y="1643050"/>
            <a:ext cx="1428760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SERVEUR WEB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6429388" y="1643050"/>
            <a:ext cx="1428760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SERVEUR BDD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428728" y="1142984"/>
            <a:ext cx="1301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FRONT-END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572264" y="1142984"/>
            <a:ext cx="1156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BACK-END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0" y="2357430"/>
            <a:ext cx="1076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/>
              <a:t>LOGICIELS-&gt;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1357290" y="2357430"/>
            <a:ext cx="140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NAVIGATEUR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643306" y="2357430"/>
            <a:ext cx="20256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APACHE</a:t>
            </a:r>
          </a:p>
          <a:p>
            <a:pPr algn="ctr"/>
            <a:r>
              <a:rPr lang="fr-FR" sz="1400" dirty="0"/>
              <a:t>ou </a:t>
            </a:r>
            <a:r>
              <a:rPr lang="fr-FR" sz="1400" b="1" dirty="0"/>
              <a:t>SERVEUR</a:t>
            </a:r>
            <a:r>
              <a:rPr lang="fr-FR" sz="1400" dirty="0"/>
              <a:t> sous node.js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6786578" y="2357430"/>
            <a:ext cx="851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MYSQL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0" y="4071942"/>
            <a:ext cx="1137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/>
              <a:t>LANGAGES-&gt;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0" y="2071678"/>
            <a:ext cx="1359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Exemples de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357290" y="4071942"/>
            <a:ext cx="127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JAVASCRIPT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0" y="4500570"/>
            <a:ext cx="1657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/>
              <a:t>LANGAGES </a:t>
            </a:r>
          </a:p>
          <a:p>
            <a:r>
              <a:rPr lang="fr-FR" sz="1400" b="1" dirty="0"/>
              <a:t>DE DESCRIPTIONS-&gt;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4143372" y="4214818"/>
            <a:ext cx="127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JAVASCRIPT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4071934" y="3857628"/>
            <a:ext cx="1272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PHP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1643042" y="4714884"/>
            <a:ext cx="7360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</a:t>
            </a:r>
          </a:p>
          <a:p>
            <a:r>
              <a:rPr lang="fr-FR" dirty="0"/>
              <a:t>XML</a:t>
            </a:r>
          </a:p>
          <a:p>
            <a:r>
              <a:rPr lang="fr-FR" dirty="0"/>
              <a:t>JSON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1643042" y="5572140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CSS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4357686" y="4572008"/>
            <a:ext cx="75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C/C++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7000892" y="407194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SQL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6715140" y="4357694"/>
            <a:ext cx="127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JAVASCRIPT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496" y="5357826"/>
            <a:ext cx="1428760" cy="941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00760" y="5429264"/>
            <a:ext cx="1857356" cy="887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" name="Flèche gauche 27"/>
          <p:cNvSpPr/>
          <p:nvPr/>
        </p:nvSpPr>
        <p:spPr>
          <a:xfrm>
            <a:off x="5500694" y="5643578"/>
            <a:ext cx="357190" cy="3571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Flèche vers le haut 28"/>
          <p:cNvSpPr/>
          <p:nvPr/>
        </p:nvSpPr>
        <p:spPr>
          <a:xfrm>
            <a:off x="4500562" y="4929198"/>
            <a:ext cx="428628" cy="28575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à coins arrondis 29"/>
          <p:cNvSpPr/>
          <p:nvPr/>
        </p:nvSpPr>
        <p:spPr>
          <a:xfrm>
            <a:off x="1214414" y="1071546"/>
            <a:ext cx="2500330" cy="5143536"/>
          </a:xfrm>
          <a:prstGeom prst="roundRect">
            <a:avLst/>
          </a:prstGeom>
          <a:noFill/>
          <a:ln w="41275" cmpd="dbl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space réservé du numéro de diapositive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0364" y="500042"/>
            <a:ext cx="3095625" cy="595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642910" y="1571612"/>
            <a:ext cx="14371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FOCUS SUR</a:t>
            </a:r>
          </a:p>
          <a:p>
            <a:pPr algn="ctr"/>
            <a:r>
              <a:rPr lang="fr-FR" b="1" dirty="0"/>
              <a:t>LE</a:t>
            </a:r>
          </a:p>
          <a:p>
            <a:pPr algn="ctr"/>
            <a:r>
              <a:rPr lang="fr-FR" b="1" dirty="0"/>
              <a:t>NAVIGATEUR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0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Légende encadrée 2 4"/>
          <p:cNvSpPr/>
          <p:nvPr/>
        </p:nvSpPr>
        <p:spPr>
          <a:xfrm>
            <a:off x="3571868" y="785794"/>
            <a:ext cx="2286016" cy="500066"/>
          </a:xfrm>
          <a:prstGeom prst="borderCallout2">
            <a:avLst>
              <a:gd name="adj1" fmla="val 117077"/>
              <a:gd name="adj2" fmla="val -2672"/>
              <a:gd name="adj3" fmla="val 163654"/>
              <a:gd name="adj4" fmla="val -15158"/>
              <a:gd name="adj5" fmla="val 260853"/>
              <a:gd name="adj6" fmla="val -16478"/>
            </a:avLst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RESPONSE HTTP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05134" y="2071678"/>
            <a:ext cx="4810138" cy="250733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500042"/>
            <a:ext cx="2752725" cy="560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500042"/>
            <a:ext cx="2752725" cy="560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1571612"/>
            <a:ext cx="419100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ZoneTexte 10"/>
          <p:cNvSpPr txBox="1"/>
          <p:nvPr/>
        </p:nvSpPr>
        <p:spPr>
          <a:xfrm>
            <a:off x="571472" y="214311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(BOM)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500034" y="3643314"/>
            <a:ext cx="74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DOM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214282" y="4071942"/>
            <a:ext cx="478887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HIERARCHISATION DE TOUS LES ELEMENTS HTML</a:t>
            </a:r>
          </a:p>
        </p:txBody>
      </p:sp>
      <p:sp>
        <p:nvSpPr>
          <p:cNvPr id="40" name="Légende encadrée 2 39"/>
          <p:cNvSpPr/>
          <p:nvPr/>
        </p:nvSpPr>
        <p:spPr>
          <a:xfrm>
            <a:off x="4286248" y="571480"/>
            <a:ext cx="2143140" cy="64294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21178"/>
              <a:gd name="adj6" fmla="val -48680"/>
            </a:avLst>
          </a:prstGeom>
          <a:noFill/>
          <a:ln w="1270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Demandes de fichiers externes ?</a:t>
            </a:r>
          </a:p>
        </p:txBody>
      </p:sp>
      <p:sp>
        <p:nvSpPr>
          <p:cNvPr id="41" name="Légende encadrée 2 40"/>
          <p:cNvSpPr/>
          <p:nvPr/>
        </p:nvSpPr>
        <p:spPr>
          <a:xfrm>
            <a:off x="3714744" y="3000372"/>
            <a:ext cx="2428892" cy="642942"/>
          </a:xfrm>
          <a:prstGeom prst="borderCallout2">
            <a:avLst>
              <a:gd name="adj1" fmla="val -16134"/>
              <a:gd name="adj2" fmla="val 38761"/>
              <a:gd name="adj3" fmla="val -69803"/>
              <a:gd name="adj4" fmla="val 38548"/>
              <a:gd name="adj5" fmla="val -135717"/>
              <a:gd name="adj6" fmla="val 44964"/>
            </a:avLst>
          </a:prstGeom>
          <a:noFill/>
          <a:ln w="1270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Demandes de ressources externes ?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3786182" y="1428736"/>
            <a:ext cx="121129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b="1" dirty="0"/>
              <a:t>index.html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00826" y="1928802"/>
            <a:ext cx="2409825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Espace réservé du numéro de diapositive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7</a:t>
            </a:fld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6" name="Cylindre 5"/>
          <p:cNvSpPr/>
          <p:nvPr/>
        </p:nvSpPr>
        <p:spPr>
          <a:xfrm>
            <a:off x="7286644" y="3429000"/>
            <a:ext cx="642942" cy="85725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.JS</a:t>
            </a:r>
          </a:p>
        </p:txBody>
      </p:sp>
      <p:sp>
        <p:nvSpPr>
          <p:cNvPr id="7" name="Cylindre 6"/>
          <p:cNvSpPr/>
          <p:nvPr/>
        </p:nvSpPr>
        <p:spPr>
          <a:xfrm>
            <a:off x="7286644" y="2428868"/>
            <a:ext cx="642942" cy="85725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.CSS</a:t>
            </a:r>
          </a:p>
        </p:txBody>
      </p:sp>
      <p:sp>
        <p:nvSpPr>
          <p:cNvPr id="9" name="Cylindre 8"/>
          <p:cNvSpPr/>
          <p:nvPr/>
        </p:nvSpPr>
        <p:spPr>
          <a:xfrm>
            <a:off x="7286644" y="1428736"/>
            <a:ext cx="642942" cy="85725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.</a:t>
            </a:r>
            <a:r>
              <a:rPr lang="fr-FR" dirty="0" err="1"/>
              <a:t>Jpg</a:t>
            </a:r>
            <a:endParaRPr lang="fr-FR" dirty="0"/>
          </a:p>
        </p:txBody>
      </p:sp>
      <p:sp>
        <p:nvSpPr>
          <p:cNvPr id="10" name="Cylindre 9"/>
          <p:cNvSpPr/>
          <p:nvPr/>
        </p:nvSpPr>
        <p:spPr>
          <a:xfrm>
            <a:off x="7286644" y="500042"/>
            <a:ext cx="642942" cy="85725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.</a:t>
            </a:r>
            <a:r>
              <a:rPr lang="fr-FR" dirty="0" err="1"/>
              <a:t>ico</a:t>
            </a:r>
            <a:endParaRPr lang="fr-FR" dirty="0"/>
          </a:p>
        </p:txBody>
      </p:sp>
      <p:sp>
        <p:nvSpPr>
          <p:cNvPr id="11" name="Forme libre 10"/>
          <p:cNvSpPr/>
          <p:nvPr/>
        </p:nvSpPr>
        <p:spPr>
          <a:xfrm>
            <a:off x="3071004" y="800819"/>
            <a:ext cx="4149305" cy="3325483"/>
          </a:xfrm>
          <a:custGeom>
            <a:avLst/>
            <a:gdLst>
              <a:gd name="connsiteX0" fmla="*/ 4149305 w 4149305"/>
              <a:gd name="connsiteY0" fmla="*/ 234351 h 3325483"/>
              <a:gd name="connsiteX1" fmla="*/ 3467819 w 4149305"/>
              <a:gd name="connsiteY1" fmla="*/ 27317 h 3325483"/>
              <a:gd name="connsiteX2" fmla="*/ 2579298 w 4149305"/>
              <a:gd name="connsiteY2" fmla="*/ 398253 h 3325483"/>
              <a:gd name="connsiteX3" fmla="*/ 2009954 w 4149305"/>
              <a:gd name="connsiteY3" fmla="*/ 1183256 h 3325483"/>
              <a:gd name="connsiteX4" fmla="*/ 1440611 w 4149305"/>
              <a:gd name="connsiteY4" fmla="*/ 2848155 h 3325483"/>
              <a:gd name="connsiteX5" fmla="*/ 1078302 w 4149305"/>
              <a:gd name="connsiteY5" fmla="*/ 3253596 h 3325483"/>
              <a:gd name="connsiteX6" fmla="*/ 629728 w 4149305"/>
              <a:gd name="connsiteY6" fmla="*/ 3279475 h 3325483"/>
              <a:gd name="connsiteX7" fmla="*/ 327804 w 4149305"/>
              <a:gd name="connsiteY7" fmla="*/ 3020683 h 3325483"/>
              <a:gd name="connsiteX8" fmla="*/ 155275 w 4149305"/>
              <a:gd name="connsiteY8" fmla="*/ 2477219 h 3325483"/>
              <a:gd name="connsiteX9" fmla="*/ 0 w 4149305"/>
              <a:gd name="connsiteY9" fmla="*/ 2365075 h 3325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49305" h="3325483">
                <a:moveTo>
                  <a:pt x="4149305" y="234351"/>
                </a:moveTo>
                <a:cubicBezTo>
                  <a:pt x="3939396" y="117175"/>
                  <a:pt x="3729487" y="0"/>
                  <a:pt x="3467819" y="27317"/>
                </a:cubicBezTo>
                <a:cubicBezTo>
                  <a:pt x="3206151" y="54634"/>
                  <a:pt x="2822275" y="205597"/>
                  <a:pt x="2579298" y="398253"/>
                </a:cubicBezTo>
                <a:cubicBezTo>
                  <a:pt x="2336321" y="590909"/>
                  <a:pt x="2199735" y="774939"/>
                  <a:pt x="2009954" y="1183256"/>
                </a:cubicBezTo>
                <a:cubicBezTo>
                  <a:pt x="1820173" y="1591573"/>
                  <a:pt x="1595886" y="2503098"/>
                  <a:pt x="1440611" y="2848155"/>
                </a:cubicBezTo>
                <a:cubicBezTo>
                  <a:pt x="1285336" y="3193212"/>
                  <a:pt x="1213449" y="3181709"/>
                  <a:pt x="1078302" y="3253596"/>
                </a:cubicBezTo>
                <a:cubicBezTo>
                  <a:pt x="943155" y="3325483"/>
                  <a:pt x="754811" y="3318294"/>
                  <a:pt x="629728" y="3279475"/>
                </a:cubicBezTo>
                <a:cubicBezTo>
                  <a:pt x="504645" y="3240656"/>
                  <a:pt x="406879" y="3154392"/>
                  <a:pt x="327804" y="3020683"/>
                </a:cubicBezTo>
                <a:cubicBezTo>
                  <a:pt x="248729" y="2886974"/>
                  <a:pt x="209909" y="2586487"/>
                  <a:pt x="155275" y="2477219"/>
                </a:cubicBezTo>
                <a:cubicBezTo>
                  <a:pt x="100641" y="2367951"/>
                  <a:pt x="50320" y="2366513"/>
                  <a:pt x="0" y="2365075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orme libre 11"/>
          <p:cNvSpPr/>
          <p:nvPr/>
        </p:nvSpPr>
        <p:spPr>
          <a:xfrm>
            <a:off x="3062377" y="1483743"/>
            <a:ext cx="4175185" cy="1900687"/>
          </a:xfrm>
          <a:custGeom>
            <a:avLst/>
            <a:gdLst>
              <a:gd name="connsiteX0" fmla="*/ 4175185 w 4175185"/>
              <a:gd name="connsiteY0" fmla="*/ 396815 h 1900687"/>
              <a:gd name="connsiteX1" fmla="*/ 2786332 w 4175185"/>
              <a:gd name="connsiteY1" fmla="*/ 43132 h 1900687"/>
              <a:gd name="connsiteX2" fmla="*/ 1561381 w 4175185"/>
              <a:gd name="connsiteY2" fmla="*/ 138023 h 1900687"/>
              <a:gd name="connsiteX3" fmla="*/ 854015 w 4175185"/>
              <a:gd name="connsiteY3" fmla="*/ 741872 h 1900687"/>
              <a:gd name="connsiteX4" fmla="*/ 569344 w 4175185"/>
              <a:gd name="connsiteY4" fmla="*/ 1457865 h 1900687"/>
              <a:gd name="connsiteX5" fmla="*/ 414068 w 4175185"/>
              <a:gd name="connsiteY5" fmla="*/ 1837427 h 1900687"/>
              <a:gd name="connsiteX6" fmla="*/ 267419 w 4175185"/>
              <a:gd name="connsiteY6" fmla="*/ 1837427 h 1900687"/>
              <a:gd name="connsiteX7" fmla="*/ 181155 w 4175185"/>
              <a:gd name="connsiteY7" fmla="*/ 1716657 h 1900687"/>
              <a:gd name="connsiteX8" fmla="*/ 0 w 4175185"/>
              <a:gd name="connsiteY8" fmla="*/ 1656272 h 190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75185" h="1900687">
                <a:moveTo>
                  <a:pt x="4175185" y="396815"/>
                </a:moveTo>
                <a:cubicBezTo>
                  <a:pt x="3698575" y="241539"/>
                  <a:pt x="3221966" y="86264"/>
                  <a:pt x="2786332" y="43132"/>
                </a:cubicBezTo>
                <a:cubicBezTo>
                  <a:pt x="2350698" y="0"/>
                  <a:pt x="1883434" y="21566"/>
                  <a:pt x="1561381" y="138023"/>
                </a:cubicBezTo>
                <a:cubicBezTo>
                  <a:pt x="1239328" y="254480"/>
                  <a:pt x="1019355" y="521898"/>
                  <a:pt x="854015" y="741872"/>
                </a:cubicBezTo>
                <a:cubicBezTo>
                  <a:pt x="688675" y="961846"/>
                  <a:pt x="642668" y="1275273"/>
                  <a:pt x="569344" y="1457865"/>
                </a:cubicBezTo>
                <a:cubicBezTo>
                  <a:pt x="496020" y="1640457"/>
                  <a:pt x="464389" y="1774167"/>
                  <a:pt x="414068" y="1837427"/>
                </a:cubicBezTo>
                <a:cubicBezTo>
                  <a:pt x="363747" y="1900687"/>
                  <a:pt x="306238" y="1857555"/>
                  <a:pt x="267419" y="1837427"/>
                </a:cubicBezTo>
                <a:cubicBezTo>
                  <a:pt x="228600" y="1817299"/>
                  <a:pt x="225725" y="1746850"/>
                  <a:pt x="181155" y="1716657"/>
                </a:cubicBezTo>
                <a:cubicBezTo>
                  <a:pt x="136585" y="1686465"/>
                  <a:pt x="68292" y="1671368"/>
                  <a:pt x="0" y="1656272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orme libre 12"/>
          <p:cNvSpPr/>
          <p:nvPr/>
        </p:nvSpPr>
        <p:spPr>
          <a:xfrm>
            <a:off x="3088257" y="1042359"/>
            <a:ext cx="4175185" cy="2521788"/>
          </a:xfrm>
          <a:custGeom>
            <a:avLst/>
            <a:gdLst>
              <a:gd name="connsiteX0" fmla="*/ 4175185 w 4175185"/>
              <a:gd name="connsiteY0" fmla="*/ 1830237 h 2521788"/>
              <a:gd name="connsiteX1" fmla="*/ 3226279 w 4175185"/>
              <a:gd name="connsiteY1" fmla="*/ 2390954 h 2521788"/>
              <a:gd name="connsiteX2" fmla="*/ 2613803 w 4175185"/>
              <a:gd name="connsiteY2" fmla="*/ 2494471 h 2521788"/>
              <a:gd name="connsiteX3" fmla="*/ 1992701 w 4175185"/>
              <a:gd name="connsiteY3" fmla="*/ 2227052 h 2521788"/>
              <a:gd name="connsiteX4" fmla="*/ 1604513 w 4175185"/>
              <a:gd name="connsiteY4" fmla="*/ 1096992 h 2521788"/>
              <a:gd name="connsiteX5" fmla="*/ 1311215 w 4175185"/>
              <a:gd name="connsiteY5" fmla="*/ 182592 h 2521788"/>
              <a:gd name="connsiteX6" fmla="*/ 1009290 w 4175185"/>
              <a:gd name="connsiteY6" fmla="*/ 35943 h 2521788"/>
              <a:gd name="connsiteX7" fmla="*/ 785003 w 4175185"/>
              <a:gd name="connsiteY7" fmla="*/ 398252 h 2521788"/>
              <a:gd name="connsiteX8" fmla="*/ 319177 w 4175185"/>
              <a:gd name="connsiteY8" fmla="*/ 2089030 h 2521788"/>
              <a:gd name="connsiteX9" fmla="*/ 0 w 4175185"/>
              <a:gd name="connsiteY9" fmla="*/ 2183920 h 252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75185" h="2521788">
                <a:moveTo>
                  <a:pt x="4175185" y="1830237"/>
                </a:moveTo>
                <a:cubicBezTo>
                  <a:pt x="3830847" y="2055242"/>
                  <a:pt x="3486509" y="2280248"/>
                  <a:pt x="3226279" y="2390954"/>
                </a:cubicBezTo>
                <a:cubicBezTo>
                  <a:pt x="2966049" y="2501660"/>
                  <a:pt x="2819399" y="2521788"/>
                  <a:pt x="2613803" y="2494471"/>
                </a:cubicBezTo>
                <a:cubicBezTo>
                  <a:pt x="2408207" y="2467154"/>
                  <a:pt x="2160916" y="2459965"/>
                  <a:pt x="1992701" y="2227052"/>
                </a:cubicBezTo>
                <a:cubicBezTo>
                  <a:pt x="1824486" y="1994139"/>
                  <a:pt x="1718094" y="1437735"/>
                  <a:pt x="1604513" y="1096992"/>
                </a:cubicBezTo>
                <a:cubicBezTo>
                  <a:pt x="1490932" y="756249"/>
                  <a:pt x="1410419" y="359433"/>
                  <a:pt x="1311215" y="182592"/>
                </a:cubicBezTo>
                <a:cubicBezTo>
                  <a:pt x="1212011" y="5751"/>
                  <a:pt x="1096992" y="0"/>
                  <a:pt x="1009290" y="35943"/>
                </a:cubicBezTo>
                <a:cubicBezTo>
                  <a:pt x="921588" y="71886"/>
                  <a:pt x="900022" y="56071"/>
                  <a:pt x="785003" y="398252"/>
                </a:cubicBezTo>
                <a:cubicBezTo>
                  <a:pt x="669984" y="740433"/>
                  <a:pt x="450011" y="1791419"/>
                  <a:pt x="319177" y="2089030"/>
                </a:cubicBezTo>
                <a:cubicBezTo>
                  <a:pt x="188343" y="2386641"/>
                  <a:pt x="94171" y="2285280"/>
                  <a:pt x="0" y="218392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571480"/>
            <a:ext cx="2752725" cy="560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2643182"/>
            <a:ext cx="99060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Forme libre 15"/>
          <p:cNvSpPr/>
          <p:nvPr/>
        </p:nvSpPr>
        <p:spPr>
          <a:xfrm>
            <a:off x="3105509" y="3260785"/>
            <a:ext cx="4166559" cy="1112807"/>
          </a:xfrm>
          <a:custGeom>
            <a:avLst/>
            <a:gdLst>
              <a:gd name="connsiteX0" fmla="*/ 4166559 w 4166559"/>
              <a:gd name="connsiteY0" fmla="*/ 741872 h 1112807"/>
              <a:gd name="connsiteX1" fmla="*/ 3666227 w 4166559"/>
              <a:gd name="connsiteY1" fmla="*/ 897147 h 1112807"/>
              <a:gd name="connsiteX2" fmla="*/ 2432649 w 4166559"/>
              <a:gd name="connsiteY2" fmla="*/ 1112807 h 1112807"/>
              <a:gd name="connsiteX3" fmla="*/ 1173193 w 4166559"/>
              <a:gd name="connsiteY3" fmla="*/ 897147 h 1112807"/>
              <a:gd name="connsiteX4" fmla="*/ 0 w 4166559"/>
              <a:gd name="connsiteY4" fmla="*/ 0 h 1112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66559" h="1112807">
                <a:moveTo>
                  <a:pt x="4166559" y="741872"/>
                </a:moveTo>
                <a:cubicBezTo>
                  <a:pt x="4060885" y="788598"/>
                  <a:pt x="3955212" y="835325"/>
                  <a:pt x="3666227" y="897147"/>
                </a:cubicBezTo>
                <a:cubicBezTo>
                  <a:pt x="3377242" y="958969"/>
                  <a:pt x="2848155" y="1112807"/>
                  <a:pt x="2432649" y="1112807"/>
                </a:cubicBezTo>
                <a:cubicBezTo>
                  <a:pt x="2017143" y="1112807"/>
                  <a:pt x="1578634" y="1082615"/>
                  <a:pt x="1173193" y="897147"/>
                </a:cubicBezTo>
                <a:cubicBezTo>
                  <a:pt x="767752" y="711679"/>
                  <a:pt x="383876" y="355839"/>
                  <a:pt x="0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/>
          <p:cNvSpPr txBox="1"/>
          <p:nvPr/>
        </p:nvSpPr>
        <p:spPr>
          <a:xfrm>
            <a:off x="142844" y="3571876"/>
            <a:ext cx="201721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Page web affichée !</a:t>
            </a: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744" y="2428868"/>
            <a:ext cx="1314450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642910" y="1571612"/>
            <a:ext cx="138005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FOCUS SUR</a:t>
            </a:r>
          </a:p>
          <a:p>
            <a:pPr algn="ctr"/>
            <a:r>
              <a:rPr lang="fr-FR" b="1" dirty="0"/>
              <a:t>LA</a:t>
            </a:r>
          </a:p>
          <a:p>
            <a:pPr algn="ctr"/>
            <a:r>
              <a:rPr lang="fr-FR" b="1" dirty="0"/>
              <a:t>FORMATION</a:t>
            </a:r>
          </a:p>
          <a:p>
            <a:pPr algn="ctr"/>
            <a:r>
              <a:rPr lang="fr-FR" b="1" dirty="0"/>
              <a:t>VISUELLE</a:t>
            </a:r>
          </a:p>
          <a:p>
            <a:pPr algn="ctr"/>
            <a:r>
              <a:rPr lang="fr-FR" b="1" dirty="0"/>
              <a:t>DE LA</a:t>
            </a:r>
          </a:p>
          <a:p>
            <a:pPr algn="ctr"/>
            <a:r>
              <a:rPr lang="fr-FR" b="1" dirty="0"/>
              <a:t>PAGE WEB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074"/>
                                        </p:tgtEl>
                                      </p:cBhvr>
                                      <p:by x="250000" y="2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500034" y="642918"/>
            <a:ext cx="324242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Squelette HTML : html </a:t>
            </a:r>
            <a:r>
              <a:rPr lang="fr-FR" dirty="0" err="1"/>
              <a:t>skeleton</a:t>
            </a:r>
            <a:r>
              <a:rPr lang="fr-FR" dirty="0"/>
              <a:t> :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2988" y="1071546"/>
            <a:ext cx="7058025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4963" y="2071688"/>
            <a:ext cx="5934075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785786" y="857232"/>
            <a:ext cx="2551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élément html = 1 boite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12</a:t>
            </a:fld>
            <a:endParaRPr lang="fr-FR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928670"/>
            <a:ext cx="8471686" cy="5724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1285860"/>
            <a:ext cx="3219450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1142976" y="642918"/>
            <a:ext cx="7085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 flux = LE cours d’affichage naturel des éléments html sur une page web</a:t>
            </a:r>
          </a:p>
        </p:txBody>
      </p:sp>
      <p:sp>
        <p:nvSpPr>
          <p:cNvPr id="6" name="Forme libre 5"/>
          <p:cNvSpPr/>
          <p:nvPr/>
        </p:nvSpPr>
        <p:spPr>
          <a:xfrm>
            <a:off x="4024222" y="2544792"/>
            <a:ext cx="992039" cy="2920043"/>
          </a:xfrm>
          <a:custGeom>
            <a:avLst/>
            <a:gdLst>
              <a:gd name="connsiteX0" fmla="*/ 478767 w 992039"/>
              <a:gd name="connsiteY0" fmla="*/ 0 h 2920043"/>
              <a:gd name="connsiteX1" fmla="*/ 332118 w 992039"/>
              <a:gd name="connsiteY1" fmla="*/ 345057 h 2920043"/>
              <a:gd name="connsiteX2" fmla="*/ 573657 w 992039"/>
              <a:gd name="connsiteY2" fmla="*/ 854016 h 2920043"/>
              <a:gd name="connsiteX3" fmla="*/ 599536 w 992039"/>
              <a:gd name="connsiteY3" fmla="*/ 1009291 h 2920043"/>
              <a:gd name="connsiteX4" fmla="*/ 573657 w 992039"/>
              <a:gd name="connsiteY4" fmla="*/ 1164566 h 2920043"/>
              <a:gd name="connsiteX5" fmla="*/ 357997 w 992039"/>
              <a:gd name="connsiteY5" fmla="*/ 1561382 h 2920043"/>
              <a:gd name="connsiteX6" fmla="*/ 81952 w 992039"/>
              <a:gd name="connsiteY6" fmla="*/ 1915065 h 2920043"/>
              <a:gd name="connsiteX7" fmla="*/ 12940 w 992039"/>
              <a:gd name="connsiteY7" fmla="*/ 2053087 h 2920043"/>
              <a:gd name="connsiteX8" fmla="*/ 159589 w 992039"/>
              <a:gd name="connsiteY8" fmla="*/ 2182483 h 2920043"/>
              <a:gd name="connsiteX9" fmla="*/ 556404 w 992039"/>
              <a:gd name="connsiteY9" fmla="*/ 2260121 h 2920043"/>
              <a:gd name="connsiteX10" fmla="*/ 935967 w 992039"/>
              <a:gd name="connsiteY10" fmla="*/ 2372265 h 2920043"/>
              <a:gd name="connsiteX11" fmla="*/ 892835 w 992039"/>
              <a:gd name="connsiteY11" fmla="*/ 2527540 h 2920043"/>
              <a:gd name="connsiteX12" fmla="*/ 444261 w 992039"/>
              <a:gd name="connsiteY12" fmla="*/ 2700068 h 2920043"/>
              <a:gd name="connsiteX13" fmla="*/ 392503 w 992039"/>
              <a:gd name="connsiteY13" fmla="*/ 2889850 h 2920043"/>
              <a:gd name="connsiteX14" fmla="*/ 418382 w 992039"/>
              <a:gd name="connsiteY14" fmla="*/ 2881223 h 2920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039" h="2920043">
                <a:moveTo>
                  <a:pt x="478767" y="0"/>
                </a:moveTo>
                <a:cubicBezTo>
                  <a:pt x="397535" y="101360"/>
                  <a:pt x="316303" y="202721"/>
                  <a:pt x="332118" y="345057"/>
                </a:cubicBezTo>
                <a:cubicBezTo>
                  <a:pt x="347933" y="487393"/>
                  <a:pt x="529087" y="743310"/>
                  <a:pt x="573657" y="854016"/>
                </a:cubicBezTo>
                <a:cubicBezTo>
                  <a:pt x="618227" y="964722"/>
                  <a:pt x="599536" y="957533"/>
                  <a:pt x="599536" y="1009291"/>
                </a:cubicBezTo>
                <a:cubicBezTo>
                  <a:pt x="599536" y="1061049"/>
                  <a:pt x="613913" y="1072551"/>
                  <a:pt x="573657" y="1164566"/>
                </a:cubicBezTo>
                <a:cubicBezTo>
                  <a:pt x="533401" y="1256581"/>
                  <a:pt x="439948" y="1436299"/>
                  <a:pt x="357997" y="1561382"/>
                </a:cubicBezTo>
                <a:cubicBezTo>
                  <a:pt x="276046" y="1686465"/>
                  <a:pt x="139461" y="1833114"/>
                  <a:pt x="81952" y="1915065"/>
                </a:cubicBezTo>
                <a:cubicBezTo>
                  <a:pt x="24443" y="1997016"/>
                  <a:pt x="0" y="2008517"/>
                  <a:pt x="12940" y="2053087"/>
                </a:cubicBezTo>
                <a:cubicBezTo>
                  <a:pt x="25880" y="2097657"/>
                  <a:pt x="69012" y="2147977"/>
                  <a:pt x="159589" y="2182483"/>
                </a:cubicBezTo>
                <a:cubicBezTo>
                  <a:pt x="250166" y="2216989"/>
                  <a:pt x="427008" y="2228491"/>
                  <a:pt x="556404" y="2260121"/>
                </a:cubicBezTo>
                <a:cubicBezTo>
                  <a:pt x="685800" y="2291751"/>
                  <a:pt x="879895" y="2327695"/>
                  <a:pt x="935967" y="2372265"/>
                </a:cubicBezTo>
                <a:cubicBezTo>
                  <a:pt x="992039" y="2416835"/>
                  <a:pt x="974786" y="2472906"/>
                  <a:pt x="892835" y="2527540"/>
                </a:cubicBezTo>
                <a:cubicBezTo>
                  <a:pt x="810884" y="2582174"/>
                  <a:pt x="527650" y="2639683"/>
                  <a:pt x="444261" y="2700068"/>
                </a:cubicBezTo>
                <a:cubicBezTo>
                  <a:pt x="360872" y="2760453"/>
                  <a:pt x="396816" y="2859657"/>
                  <a:pt x="392503" y="2889850"/>
                </a:cubicBezTo>
                <a:cubicBezTo>
                  <a:pt x="388190" y="2920043"/>
                  <a:pt x="403286" y="2900633"/>
                  <a:pt x="418382" y="2881223"/>
                </a:cubicBezTo>
              </a:path>
            </a:pathLst>
          </a:custGeom>
          <a:ln w="50800">
            <a:solidFill>
              <a:srgbClr val="FF0000">
                <a:alpha val="48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7072330" y="1000108"/>
            <a:ext cx="108433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SANS</a:t>
            </a:r>
            <a:r>
              <a:rPr lang="fr-FR" b="1" dirty="0">
                <a:solidFill>
                  <a:srgbClr val="FFFF00"/>
                </a:solidFill>
              </a:rPr>
              <a:t> CSS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13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285860"/>
            <a:ext cx="5934075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1670" y="4357694"/>
            <a:ext cx="520065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500034" y="714356"/>
            <a:ext cx="3408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Empilement de boites dans le flux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572132" y="642918"/>
            <a:ext cx="222541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b="1" dirty="0"/>
              <a:t>FUSION DES MARGES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14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3 0.11342 L -0.00313 -0.1148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00034" y="500042"/>
            <a:ext cx="3044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ELEMENT HTML DE TYPE BLOC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928670"/>
            <a:ext cx="6793201" cy="5800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00034" y="500042"/>
            <a:ext cx="319472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b="1" dirty="0"/>
              <a:t>ELEMENTS HTML DE TYPE BLOC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472" y="1357298"/>
            <a:ext cx="4572000" cy="1200329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fr-FR" dirty="0"/>
              <a:t>Un élément de type </a:t>
            </a:r>
            <a:r>
              <a:rPr lang="fr-FR" b="1" dirty="0"/>
              <a:t>bloc occupe tout l'espace horizontal de son élément parent (conteneur)</a:t>
            </a:r>
            <a:r>
              <a:rPr lang="fr-FR" dirty="0"/>
              <a:t>, et un espace vertical égal à la hauteur de son contenu, créant ainsi un bloc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596" y="1214422"/>
            <a:ext cx="4857784" cy="20002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571472" y="928670"/>
            <a:ext cx="194065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1600" dirty="0"/>
              <a:t>CONTENEUR PARENT</a:t>
            </a:r>
          </a:p>
        </p:txBody>
      </p:sp>
      <p:cxnSp>
        <p:nvCxnSpPr>
          <p:cNvPr id="10" name="Connecteur droit avec flèche 9"/>
          <p:cNvCxnSpPr/>
          <p:nvPr/>
        </p:nvCxnSpPr>
        <p:spPr>
          <a:xfrm rot="5400000">
            <a:off x="5143504" y="1928802"/>
            <a:ext cx="1143008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7818" y="2857496"/>
            <a:ext cx="1157474" cy="71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5214950"/>
            <a:ext cx="1600199" cy="61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58082" y="4357694"/>
            <a:ext cx="928694" cy="699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72264" y="2857496"/>
            <a:ext cx="200977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00760" y="1357298"/>
            <a:ext cx="260985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857356" y="5214950"/>
            <a:ext cx="1562099" cy="619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000364" y="3643314"/>
            <a:ext cx="375285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143636" y="500042"/>
            <a:ext cx="24765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42844" y="4429132"/>
            <a:ext cx="2581304" cy="71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6572264" y="2071678"/>
            <a:ext cx="2009775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215074" y="5214950"/>
            <a:ext cx="233362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500430" y="4429132"/>
            <a:ext cx="1071570" cy="695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10" name="Picture 14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6929454" y="3643314"/>
            <a:ext cx="1666875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11" name="Picture 15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1071538" y="3643314"/>
            <a:ext cx="176212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12" name="Picture 16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4643438" y="4429132"/>
            <a:ext cx="184785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13" name="Picture 17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3571868" y="5214950"/>
            <a:ext cx="188595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00034" y="571480"/>
            <a:ext cx="214501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MEMENTO SUR CSS 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17</a:t>
            </a:fld>
            <a:endParaRPr lang="fr-FR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571612"/>
            <a:ext cx="64198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500034" y="1142984"/>
            <a:ext cx="3386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/>
              <a:t>En section &lt;</a:t>
            </a:r>
            <a:r>
              <a:rPr lang="fr-FR" u="sng" dirty="0" err="1"/>
              <a:t>head</a:t>
            </a:r>
            <a:r>
              <a:rPr lang="fr-FR" u="sng" dirty="0"/>
              <a:t>&gt; du fichier .html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15206" y="1428736"/>
            <a:ext cx="1743075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3108" y="2000240"/>
            <a:ext cx="2129132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Forme libre 10"/>
          <p:cNvSpPr/>
          <p:nvPr/>
        </p:nvSpPr>
        <p:spPr>
          <a:xfrm>
            <a:off x="4364966" y="1871932"/>
            <a:ext cx="412630" cy="353683"/>
          </a:xfrm>
          <a:custGeom>
            <a:avLst/>
            <a:gdLst>
              <a:gd name="connsiteX0" fmla="*/ 198408 w 412630"/>
              <a:gd name="connsiteY0" fmla="*/ 0 h 353683"/>
              <a:gd name="connsiteX1" fmla="*/ 379562 w 412630"/>
              <a:gd name="connsiteY1" fmla="*/ 232913 h 353683"/>
              <a:gd name="connsiteX2" fmla="*/ 0 w 412630"/>
              <a:gd name="connsiteY2" fmla="*/ 353683 h 353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630" h="353683">
                <a:moveTo>
                  <a:pt x="198408" y="0"/>
                </a:moveTo>
                <a:cubicBezTo>
                  <a:pt x="305519" y="86983"/>
                  <a:pt x="412630" y="173966"/>
                  <a:pt x="379562" y="232913"/>
                </a:cubicBezTo>
                <a:cubicBezTo>
                  <a:pt x="346494" y="291860"/>
                  <a:pt x="173247" y="322771"/>
                  <a:pt x="0" y="353683"/>
                </a:cubicBezTo>
              </a:path>
            </a:pathLst>
          </a:cu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orme libre 11"/>
          <p:cNvSpPr/>
          <p:nvPr/>
        </p:nvSpPr>
        <p:spPr>
          <a:xfrm>
            <a:off x="4286248" y="1857364"/>
            <a:ext cx="2214578" cy="1282377"/>
          </a:xfrm>
          <a:custGeom>
            <a:avLst/>
            <a:gdLst>
              <a:gd name="connsiteX0" fmla="*/ 198408 w 412630"/>
              <a:gd name="connsiteY0" fmla="*/ 0 h 353683"/>
              <a:gd name="connsiteX1" fmla="*/ 379562 w 412630"/>
              <a:gd name="connsiteY1" fmla="*/ 232913 h 353683"/>
              <a:gd name="connsiteX2" fmla="*/ 0 w 412630"/>
              <a:gd name="connsiteY2" fmla="*/ 353683 h 353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630" h="353683">
                <a:moveTo>
                  <a:pt x="198408" y="0"/>
                </a:moveTo>
                <a:cubicBezTo>
                  <a:pt x="305519" y="86983"/>
                  <a:pt x="412630" y="173966"/>
                  <a:pt x="379562" y="232913"/>
                </a:cubicBezTo>
                <a:cubicBezTo>
                  <a:pt x="346494" y="291860"/>
                  <a:pt x="173247" y="322771"/>
                  <a:pt x="0" y="353683"/>
                </a:cubicBezTo>
              </a:path>
            </a:pathLst>
          </a:cu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6344644" y="1000108"/>
            <a:ext cx="2799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/>
              <a:t>En section &lt;</a:t>
            </a:r>
            <a:r>
              <a:rPr lang="fr-FR" u="sng" dirty="0" err="1"/>
              <a:t>head</a:t>
            </a:r>
            <a:r>
              <a:rPr lang="fr-FR" u="sng" dirty="0"/>
              <a:t>&gt; toujours</a:t>
            </a:r>
            <a:r>
              <a:rPr lang="fr-FR" dirty="0"/>
              <a:t>: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2714612" y="571480"/>
            <a:ext cx="4178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Lier une feuille de style avec le fichier html</a:t>
            </a:r>
          </a:p>
        </p:txBody>
      </p:sp>
      <p:sp>
        <p:nvSpPr>
          <p:cNvPr id="15" name="Flèche vers le bas 14"/>
          <p:cNvSpPr/>
          <p:nvPr/>
        </p:nvSpPr>
        <p:spPr>
          <a:xfrm rot="2419266">
            <a:off x="8215338" y="1500174"/>
            <a:ext cx="357190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7224" y="3429000"/>
            <a:ext cx="2090068" cy="2976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Forme libre 16"/>
          <p:cNvSpPr/>
          <p:nvPr/>
        </p:nvSpPr>
        <p:spPr>
          <a:xfrm>
            <a:off x="1115683" y="3094008"/>
            <a:ext cx="937404" cy="322052"/>
          </a:xfrm>
          <a:custGeom>
            <a:avLst/>
            <a:gdLst>
              <a:gd name="connsiteX0" fmla="*/ 937404 w 937404"/>
              <a:gd name="connsiteY0" fmla="*/ 37381 h 322052"/>
              <a:gd name="connsiteX1" fmla="*/ 290423 w 937404"/>
              <a:gd name="connsiteY1" fmla="*/ 2875 h 322052"/>
              <a:gd name="connsiteX2" fmla="*/ 31630 w 937404"/>
              <a:gd name="connsiteY2" fmla="*/ 54634 h 322052"/>
              <a:gd name="connsiteX3" fmla="*/ 100642 w 937404"/>
              <a:gd name="connsiteY3" fmla="*/ 322052 h 322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404" h="322052">
                <a:moveTo>
                  <a:pt x="937404" y="37381"/>
                </a:moveTo>
                <a:cubicBezTo>
                  <a:pt x="689394" y="18690"/>
                  <a:pt x="441385" y="0"/>
                  <a:pt x="290423" y="2875"/>
                </a:cubicBezTo>
                <a:cubicBezTo>
                  <a:pt x="139461" y="5751"/>
                  <a:pt x="63260" y="1438"/>
                  <a:pt x="31630" y="54634"/>
                </a:cubicBezTo>
                <a:cubicBezTo>
                  <a:pt x="0" y="107830"/>
                  <a:pt x="50321" y="214941"/>
                  <a:pt x="100642" y="322052"/>
                </a:cubicBezTo>
              </a:path>
            </a:pathLst>
          </a:cu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 droite 17"/>
          <p:cNvSpPr/>
          <p:nvPr/>
        </p:nvSpPr>
        <p:spPr>
          <a:xfrm>
            <a:off x="71438" y="1500174"/>
            <a:ext cx="428596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500034" y="571480"/>
            <a:ext cx="214501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MEMENTO SUR CSS :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1000108"/>
            <a:ext cx="6110697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64" y="2071678"/>
            <a:ext cx="2857520" cy="563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57422" y="3214686"/>
            <a:ext cx="4859900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500034" y="571480"/>
            <a:ext cx="214501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MEMENTO SUR CSS :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1000108"/>
            <a:ext cx="6110697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05909" y="1643050"/>
            <a:ext cx="6016101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00166" y="3643314"/>
            <a:ext cx="5669579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ZoneTexte 10"/>
          <p:cNvSpPr txBox="1"/>
          <p:nvPr/>
        </p:nvSpPr>
        <p:spPr>
          <a:xfrm>
            <a:off x="357158" y="2285992"/>
            <a:ext cx="73609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HTML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428596" y="4429132"/>
            <a:ext cx="5196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CSS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1714480" y="1643050"/>
            <a:ext cx="1857388" cy="285752"/>
          </a:xfrm>
          <a:prstGeom prst="round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à coins arrondis 13"/>
          <p:cNvSpPr/>
          <p:nvPr/>
        </p:nvSpPr>
        <p:spPr>
          <a:xfrm>
            <a:off x="1500166" y="3714752"/>
            <a:ext cx="1714512" cy="285752"/>
          </a:xfrm>
          <a:prstGeom prst="round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500034" y="571480"/>
            <a:ext cx="214501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MEMENTO SUR CSS :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1000108"/>
            <a:ext cx="6110697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5918" y="2071678"/>
            <a:ext cx="50006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80" y="3071810"/>
            <a:ext cx="5132941" cy="1385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à coins arrondis 10"/>
          <p:cNvSpPr/>
          <p:nvPr/>
        </p:nvSpPr>
        <p:spPr>
          <a:xfrm>
            <a:off x="2285984" y="2000240"/>
            <a:ext cx="2143140" cy="500066"/>
          </a:xfrm>
          <a:prstGeom prst="round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à coins arrondis 11"/>
          <p:cNvSpPr/>
          <p:nvPr/>
        </p:nvSpPr>
        <p:spPr>
          <a:xfrm>
            <a:off x="1714480" y="3071810"/>
            <a:ext cx="1857388" cy="357190"/>
          </a:xfrm>
          <a:prstGeom prst="round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357158" y="2143116"/>
            <a:ext cx="73609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HTML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500034" y="3286124"/>
            <a:ext cx="5196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CSS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348" y="5572140"/>
            <a:ext cx="75724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https://www.ionos.fr/digitalguide/sites-internet/web-design/apprendre-le-css-avec-simplicite/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596" y="571480"/>
            <a:ext cx="3222357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fr-FR" b="1" dirty="0"/>
              <a:t>ELEMENT HTML DE TYPE INLINE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428736"/>
            <a:ext cx="7562850" cy="85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2295523"/>
            <a:ext cx="7572428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48" y="3162306"/>
            <a:ext cx="7572428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4348" y="4333887"/>
            <a:ext cx="7572428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2910" y="5143512"/>
            <a:ext cx="7715304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21</a:t>
            </a:fld>
            <a:endParaRPr lang="fr-F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500174"/>
            <a:ext cx="476252" cy="381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1500174"/>
            <a:ext cx="571504" cy="3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28596" y="571480"/>
            <a:ext cx="3222357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fr-FR" b="1" dirty="0"/>
              <a:t>ELEMENT HTML DE TYPE INLINE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28794" y="1500174"/>
            <a:ext cx="928694" cy="36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00364" y="1500174"/>
            <a:ext cx="664770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86181" y="1500174"/>
            <a:ext cx="852647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786314" y="1500174"/>
            <a:ext cx="108347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00759" y="1500174"/>
            <a:ext cx="944825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072330" y="1500174"/>
            <a:ext cx="861458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71472" y="2071678"/>
            <a:ext cx="1147338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1928794" y="2071678"/>
            <a:ext cx="91398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3000364" y="2071678"/>
            <a:ext cx="887214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Rectangle 15"/>
          <p:cNvSpPr/>
          <p:nvPr/>
        </p:nvSpPr>
        <p:spPr>
          <a:xfrm>
            <a:off x="1357290" y="2786058"/>
            <a:ext cx="6286544" cy="1015663"/>
          </a:xfrm>
          <a:prstGeom prst="rect">
            <a:avLst/>
          </a:prstGeom>
          <a:ln w="12700"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fr-FR" sz="2000" b="1" dirty="0"/>
              <a:t>Les éléments en lignes n'occupent que l'espace entre leurs balises et s'insèrent dans le flux du contenu plutôt que de créer un nouveau « bloc » visuel.</a:t>
            </a:r>
          </a:p>
        </p:txBody>
      </p:sp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571472" y="4286256"/>
            <a:ext cx="7715304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22</a:t>
            </a:fld>
            <a:endParaRPr lang="fr-F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23</a:t>
            </a:fld>
            <a:endParaRPr lang="fr-F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85860"/>
            <a:ext cx="4019550" cy="838200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1142984"/>
            <a:ext cx="4857750" cy="2581275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4143380"/>
            <a:ext cx="7210425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500034" y="571480"/>
            <a:ext cx="561358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CAS DE SORTIE DU FLUX :  		position : </a:t>
            </a:r>
            <a:r>
              <a:rPr lang="fr-FR" dirty="0" err="1"/>
              <a:t>absolute</a:t>
            </a:r>
            <a:endParaRPr lang="fr-FR" dirty="0"/>
          </a:p>
        </p:txBody>
      </p:sp>
      <p:sp>
        <p:nvSpPr>
          <p:cNvPr id="9" name="Forme libre 8"/>
          <p:cNvSpPr/>
          <p:nvPr/>
        </p:nvSpPr>
        <p:spPr>
          <a:xfrm>
            <a:off x="6323162" y="715992"/>
            <a:ext cx="875581" cy="957533"/>
          </a:xfrm>
          <a:custGeom>
            <a:avLst/>
            <a:gdLst>
              <a:gd name="connsiteX0" fmla="*/ 0 w 875581"/>
              <a:gd name="connsiteY0" fmla="*/ 0 h 957533"/>
              <a:gd name="connsiteX1" fmla="*/ 560717 w 875581"/>
              <a:gd name="connsiteY1" fmla="*/ 51759 h 957533"/>
              <a:gd name="connsiteX2" fmla="*/ 828136 w 875581"/>
              <a:gd name="connsiteY2" fmla="*/ 250166 h 957533"/>
              <a:gd name="connsiteX3" fmla="*/ 845389 w 875581"/>
              <a:gd name="connsiteY3" fmla="*/ 457200 h 957533"/>
              <a:gd name="connsiteX4" fmla="*/ 707366 w 875581"/>
              <a:gd name="connsiteY4" fmla="*/ 646982 h 957533"/>
              <a:gd name="connsiteX5" fmla="*/ 276046 w 875581"/>
              <a:gd name="connsiteY5" fmla="*/ 957533 h 957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5581" h="957533">
                <a:moveTo>
                  <a:pt x="0" y="0"/>
                </a:moveTo>
                <a:cubicBezTo>
                  <a:pt x="211347" y="5032"/>
                  <a:pt x="422694" y="10065"/>
                  <a:pt x="560717" y="51759"/>
                </a:cubicBezTo>
                <a:cubicBezTo>
                  <a:pt x="698740" y="93453"/>
                  <a:pt x="780691" y="182592"/>
                  <a:pt x="828136" y="250166"/>
                </a:cubicBezTo>
                <a:cubicBezTo>
                  <a:pt x="875581" y="317740"/>
                  <a:pt x="865517" y="391064"/>
                  <a:pt x="845389" y="457200"/>
                </a:cubicBezTo>
                <a:cubicBezTo>
                  <a:pt x="825261" y="523336"/>
                  <a:pt x="802257" y="563593"/>
                  <a:pt x="707366" y="646982"/>
                </a:cubicBezTo>
                <a:cubicBezTo>
                  <a:pt x="612475" y="730371"/>
                  <a:pt x="444260" y="843952"/>
                  <a:pt x="276046" y="957533"/>
                </a:cubicBezTo>
              </a:path>
            </a:pathLst>
          </a:cu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/>
          <p:cNvSpPr txBox="1"/>
          <p:nvPr/>
        </p:nvSpPr>
        <p:spPr>
          <a:xfrm>
            <a:off x="142844" y="928670"/>
            <a:ext cx="618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8143900" y="857232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CSS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428596" y="3786190"/>
            <a:ext cx="445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/>
              <a:t>RENDU VISUEL PAGE WEB DANS NAVIGATEUR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0A72275-93E0-0B4D-F8D9-02D12D9910E1}"/>
              </a:ext>
            </a:extLst>
          </p:cNvPr>
          <p:cNvSpPr txBox="1"/>
          <p:nvPr/>
        </p:nvSpPr>
        <p:spPr>
          <a:xfrm>
            <a:off x="3355009" y="5987018"/>
            <a:ext cx="22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ighlight>
                  <a:srgbClr val="FFFF00"/>
                </a:highlight>
              </a:rPr>
              <a:t>Voir exemple-01.html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428596" y="571480"/>
            <a:ext cx="157639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position: </a:t>
            </a:r>
            <a:r>
              <a:rPr lang="fr-FR" dirty="0" err="1"/>
              <a:t>fixed</a:t>
            </a:r>
            <a:r>
              <a:rPr lang="fr-FR" dirty="0"/>
              <a:t>;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571480"/>
            <a:ext cx="5633159" cy="2381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554" y="4000504"/>
            <a:ext cx="5643000" cy="2380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928670"/>
            <a:ext cx="3071834" cy="1953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4282" y="3071810"/>
            <a:ext cx="581025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ZoneTexte 9"/>
          <p:cNvSpPr txBox="1"/>
          <p:nvPr/>
        </p:nvSpPr>
        <p:spPr>
          <a:xfrm>
            <a:off x="2571736" y="1142984"/>
            <a:ext cx="51969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CSS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500034" y="2714620"/>
            <a:ext cx="73609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HTML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1C23C28-64A5-E088-79AD-45AC2DEF6464}"/>
              </a:ext>
            </a:extLst>
          </p:cNvPr>
          <p:cNvSpPr txBox="1"/>
          <p:nvPr/>
        </p:nvSpPr>
        <p:spPr>
          <a:xfrm>
            <a:off x="611560" y="5445224"/>
            <a:ext cx="2205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ighlight>
                  <a:srgbClr val="FFFF00"/>
                </a:highlight>
              </a:rPr>
              <a:t>Voir Exemple-02.html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428596" y="571480"/>
            <a:ext cx="182357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position: relative;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357422" y="571480"/>
            <a:ext cx="6329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Ne sort pas du flux. Décale l’élément de son repère d’origine dans</a:t>
            </a:r>
          </a:p>
          <a:p>
            <a:r>
              <a:rPr lang="fr-FR" dirty="0"/>
              <a:t>le flux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357430"/>
            <a:ext cx="6237218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FF11B1B-0052-E4EE-5EF5-92F97B0972DB}"/>
              </a:ext>
            </a:extLst>
          </p:cNvPr>
          <p:cNvSpPr txBox="1"/>
          <p:nvPr/>
        </p:nvSpPr>
        <p:spPr>
          <a:xfrm>
            <a:off x="3469230" y="4666219"/>
            <a:ext cx="22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ighlight>
                  <a:srgbClr val="FFFF00"/>
                </a:highlight>
              </a:rPr>
              <a:t>Voir exemple-03.html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71546"/>
            <a:ext cx="5981700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26</a:t>
            </a:fld>
            <a:endParaRPr lang="fr-FR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2786058"/>
            <a:ext cx="4591050" cy="1714500"/>
          </a:xfrm>
          <a:prstGeom prst="rect">
            <a:avLst/>
          </a:prstGeom>
          <a:noFill/>
          <a:ln w="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428596" y="500042"/>
            <a:ext cx="741369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Boites flottantes : de moins en moins utilisées depuis la technologie FLEXBOX</a:t>
            </a:r>
          </a:p>
        </p:txBody>
      </p:sp>
      <p:sp>
        <p:nvSpPr>
          <p:cNvPr id="8" name="Forme libre 7"/>
          <p:cNvSpPr/>
          <p:nvPr/>
        </p:nvSpPr>
        <p:spPr>
          <a:xfrm>
            <a:off x="6418053" y="3623094"/>
            <a:ext cx="2504536" cy="1774166"/>
          </a:xfrm>
          <a:custGeom>
            <a:avLst/>
            <a:gdLst>
              <a:gd name="connsiteX0" fmla="*/ 0 w 2504536"/>
              <a:gd name="connsiteY0" fmla="*/ 1751163 h 1774166"/>
              <a:gd name="connsiteX1" fmla="*/ 1078302 w 2504536"/>
              <a:gd name="connsiteY1" fmla="*/ 1759789 h 1774166"/>
              <a:gd name="connsiteX2" fmla="*/ 1992702 w 2504536"/>
              <a:gd name="connsiteY2" fmla="*/ 1664898 h 1774166"/>
              <a:gd name="connsiteX3" fmla="*/ 2406770 w 2504536"/>
              <a:gd name="connsiteY3" fmla="*/ 1242204 h 1774166"/>
              <a:gd name="connsiteX4" fmla="*/ 2493034 w 2504536"/>
              <a:gd name="connsiteY4" fmla="*/ 638355 h 1774166"/>
              <a:gd name="connsiteX5" fmla="*/ 2475781 w 2504536"/>
              <a:gd name="connsiteY5" fmla="*/ 301925 h 1774166"/>
              <a:gd name="connsiteX6" fmla="*/ 2346385 w 2504536"/>
              <a:gd name="connsiteY6" fmla="*/ 112144 h 1774166"/>
              <a:gd name="connsiteX7" fmla="*/ 2165230 w 2504536"/>
              <a:gd name="connsiteY7" fmla="*/ 17253 h 1774166"/>
              <a:gd name="connsiteX8" fmla="*/ 1587260 w 2504536"/>
              <a:gd name="connsiteY8" fmla="*/ 8627 h 1774166"/>
              <a:gd name="connsiteX9" fmla="*/ 810883 w 2504536"/>
              <a:gd name="connsiteY9" fmla="*/ 0 h 1774166"/>
              <a:gd name="connsiteX10" fmla="*/ 483079 w 2504536"/>
              <a:gd name="connsiteY10" fmla="*/ 17253 h 1774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04536" h="1774166">
                <a:moveTo>
                  <a:pt x="0" y="1751163"/>
                </a:moveTo>
                <a:cubicBezTo>
                  <a:pt x="373092" y="1762664"/>
                  <a:pt x="746185" y="1774166"/>
                  <a:pt x="1078302" y="1759789"/>
                </a:cubicBezTo>
                <a:cubicBezTo>
                  <a:pt x="1410419" y="1745412"/>
                  <a:pt x="1771291" y="1751162"/>
                  <a:pt x="1992702" y="1664898"/>
                </a:cubicBezTo>
                <a:cubicBezTo>
                  <a:pt x="2214113" y="1578634"/>
                  <a:pt x="2323381" y="1413295"/>
                  <a:pt x="2406770" y="1242204"/>
                </a:cubicBezTo>
                <a:cubicBezTo>
                  <a:pt x="2490159" y="1071113"/>
                  <a:pt x="2481532" y="795068"/>
                  <a:pt x="2493034" y="638355"/>
                </a:cubicBezTo>
                <a:cubicBezTo>
                  <a:pt x="2504536" y="481642"/>
                  <a:pt x="2500223" y="389627"/>
                  <a:pt x="2475781" y="301925"/>
                </a:cubicBezTo>
                <a:cubicBezTo>
                  <a:pt x="2451339" y="214223"/>
                  <a:pt x="2398144" y="159589"/>
                  <a:pt x="2346385" y="112144"/>
                </a:cubicBezTo>
                <a:cubicBezTo>
                  <a:pt x="2294627" y="64699"/>
                  <a:pt x="2291751" y="34506"/>
                  <a:pt x="2165230" y="17253"/>
                </a:cubicBezTo>
                <a:cubicBezTo>
                  <a:pt x="2038709" y="0"/>
                  <a:pt x="1587260" y="8627"/>
                  <a:pt x="1587260" y="8627"/>
                </a:cubicBezTo>
                <a:lnTo>
                  <a:pt x="810883" y="0"/>
                </a:lnTo>
                <a:cubicBezTo>
                  <a:pt x="626853" y="1438"/>
                  <a:pt x="554966" y="9345"/>
                  <a:pt x="483079" y="17253"/>
                </a:cubicBezTo>
              </a:path>
            </a:pathLst>
          </a:custGeom>
          <a:ln w="539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orme libre 8"/>
          <p:cNvSpPr/>
          <p:nvPr/>
        </p:nvSpPr>
        <p:spPr>
          <a:xfrm>
            <a:off x="4517366" y="4123426"/>
            <a:ext cx="3144329" cy="1204823"/>
          </a:xfrm>
          <a:custGeom>
            <a:avLst/>
            <a:gdLst>
              <a:gd name="connsiteX0" fmla="*/ 1926566 w 3144329"/>
              <a:gd name="connsiteY0" fmla="*/ 1181819 h 1204823"/>
              <a:gd name="connsiteX1" fmla="*/ 2677064 w 3144329"/>
              <a:gd name="connsiteY1" fmla="*/ 1190446 h 1204823"/>
              <a:gd name="connsiteX2" fmla="*/ 3013494 w 3144329"/>
              <a:gd name="connsiteY2" fmla="*/ 1095555 h 1204823"/>
              <a:gd name="connsiteX3" fmla="*/ 3125638 w 3144329"/>
              <a:gd name="connsiteY3" fmla="*/ 707366 h 1204823"/>
              <a:gd name="connsiteX4" fmla="*/ 3125638 w 3144329"/>
              <a:gd name="connsiteY4" fmla="*/ 448574 h 1204823"/>
              <a:gd name="connsiteX5" fmla="*/ 3013494 w 3144329"/>
              <a:gd name="connsiteY5" fmla="*/ 310551 h 1204823"/>
              <a:gd name="connsiteX6" fmla="*/ 2702943 w 3144329"/>
              <a:gd name="connsiteY6" fmla="*/ 232914 h 1204823"/>
              <a:gd name="connsiteX7" fmla="*/ 2314755 w 3144329"/>
              <a:gd name="connsiteY7" fmla="*/ 207034 h 1204823"/>
              <a:gd name="connsiteX8" fmla="*/ 1495245 w 3144329"/>
              <a:gd name="connsiteY8" fmla="*/ 215661 h 1204823"/>
              <a:gd name="connsiteX9" fmla="*/ 908649 w 3144329"/>
              <a:gd name="connsiteY9" fmla="*/ 232914 h 1204823"/>
              <a:gd name="connsiteX10" fmla="*/ 304800 w 3144329"/>
              <a:gd name="connsiteY10" fmla="*/ 267419 h 1204823"/>
              <a:gd name="connsiteX11" fmla="*/ 89140 w 3144329"/>
              <a:gd name="connsiteY11" fmla="*/ 241540 h 1204823"/>
              <a:gd name="connsiteX12" fmla="*/ 11502 w 3144329"/>
              <a:gd name="connsiteY12" fmla="*/ 112144 h 1204823"/>
              <a:gd name="connsiteX13" fmla="*/ 20128 w 3144329"/>
              <a:gd name="connsiteY13" fmla="*/ 0 h 1204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44329" h="1204823">
                <a:moveTo>
                  <a:pt x="1926566" y="1181819"/>
                </a:moveTo>
                <a:cubicBezTo>
                  <a:pt x="2211237" y="1193321"/>
                  <a:pt x="2495909" y="1204823"/>
                  <a:pt x="2677064" y="1190446"/>
                </a:cubicBezTo>
                <a:cubicBezTo>
                  <a:pt x="2858219" y="1176069"/>
                  <a:pt x="2938732" y="1176068"/>
                  <a:pt x="3013494" y="1095555"/>
                </a:cubicBezTo>
                <a:cubicBezTo>
                  <a:pt x="3088256" y="1015042"/>
                  <a:pt x="3106947" y="815196"/>
                  <a:pt x="3125638" y="707366"/>
                </a:cubicBezTo>
                <a:cubicBezTo>
                  <a:pt x="3144329" y="599536"/>
                  <a:pt x="3144329" y="514710"/>
                  <a:pt x="3125638" y="448574"/>
                </a:cubicBezTo>
                <a:cubicBezTo>
                  <a:pt x="3106947" y="382438"/>
                  <a:pt x="3083943" y="346494"/>
                  <a:pt x="3013494" y="310551"/>
                </a:cubicBezTo>
                <a:cubicBezTo>
                  <a:pt x="2943045" y="274608"/>
                  <a:pt x="2819399" y="250167"/>
                  <a:pt x="2702943" y="232914"/>
                </a:cubicBezTo>
                <a:cubicBezTo>
                  <a:pt x="2586487" y="215661"/>
                  <a:pt x="2314755" y="207034"/>
                  <a:pt x="2314755" y="207034"/>
                </a:cubicBezTo>
                <a:lnTo>
                  <a:pt x="1495245" y="215661"/>
                </a:lnTo>
                <a:cubicBezTo>
                  <a:pt x="1260894" y="219974"/>
                  <a:pt x="1107056" y="224288"/>
                  <a:pt x="908649" y="232914"/>
                </a:cubicBezTo>
                <a:cubicBezTo>
                  <a:pt x="710242" y="241540"/>
                  <a:pt x="441385" y="265981"/>
                  <a:pt x="304800" y="267419"/>
                </a:cubicBezTo>
                <a:cubicBezTo>
                  <a:pt x="168215" y="268857"/>
                  <a:pt x="138023" y="267419"/>
                  <a:pt x="89140" y="241540"/>
                </a:cubicBezTo>
                <a:cubicBezTo>
                  <a:pt x="40257" y="215661"/>
                  <a:pt x="23004" y="152401"/>
                  <a:pt x="11502" y="112144"/>
                </a:cubicBezTo>
                <a:cubicBezTo>
                  <a:pt x="0" y="71887"/>
                  <a:pt x="10064" y="35943"/>
                  <a:pt x="20128" y="0"/>
                </a:cubicBezTo>
              </a:path>
            </a:pathLst>
          </a:custGeom>
          <a:ln w="412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10"/>
          <p:cNvCxnSpPr/>
          <p:nvPr/>
        </p:nvCxnSpPr>
        <p:spPr>
          <a:xfrm>
            <a:off x="6000760" y="4143380"/>
            <a:ext cx="571504" cy="500066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 flipV="1">
            <a:off x="5715008" y="4143380"/>
            <a:ext cx="857256" cy="428628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2A359A37-CF9F-B97B-9675-9EC3963F6E3D}"/>
              </a:ext>
            </a:extLst>
          </p:cNvPr>
          <p:cNvSpPr txBox="1"/>
          <p:nvPr/>
        </p:nvSpPr>
        <p:spPr>
          <a:xfrm>
            <a:off x="2254352" y="5531098"/>
            <a:ext cx="57577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highlight>
                  <a:srgbClr val="FFFF00"/>
                </a:highlight>
              </a:rPr>
              <a:t>Voir float1.html</a:t>
            </a:r>
          </a:p>
          <a:p>
            <a:r>
              <a:rPr lang="fr-FR" b="1" dirty="0">
                <a:highlight>
                  <a:srgbClr val="FFFF00"/>
                </a:highlight>
              </a:rPr>
              <a:t>Puis float2.html</a:t>
            </a:r>
          </a:p>
          <a:p>
            <a:r>
              <a:rPr lang="fr-FR" b="1" dirty="0">
                <a:highlight>
                  <a:srgbClr val="FFFF00"/>
                </a:highlight>
              </a:rPr>
              <a:t>Puis comment annuler la disposition </a:t>
            </a:r>
            <a:r>
              <a:rPr lang="fr-FR" b="1" dirty="0" err="1">
                <a:highlight>
                  <a:srgbClr val="FFFF00"/>
                </a:highlight>
              </a:rPr>
              <a:t>float</a:t>
            </a:r>
            <a:r>
              <a:rPr lang="fr-FR" b="1" dirty="0">
                <a:highlight>
                  <a:srgbClr val="FFFF00"/>
                </a:highlight>
              </a:rPr>
              <a:t> avec float3.html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228BA7-D8EF-A88A-616D-B7A103F25A11}"/>
              </a:ext>
            </a:extLst>
          </p:cNvPr>
          <p:cNvSpPr/>
          <p:nvPr/>
        </p:nvSpPr>
        <p:spPr>
          <a:xfrm rot="782792">
            <a:off x="3981548" y="1129250"/>
            <a:ext cx="46392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Techno </a:t>
            </a:r>
            <a:r>
              <a:rPr lang="fr-FR" sz="54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delicate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428596" y="500042"/>
            <a:ext cx="741369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Boites flottantes : de moins en moins utilisées depuis la technologie FLEXBOX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359A37-CF9F-B97B-9675-9EC3963F6E3D}"/>
              </a:ext>
            </a:extLst>
          </p:cNvPr>
          <p:cNvSpPr txBox="1"/>
          <p:nvPr/>
        </p:nvSpPr>
        <p:spPr>
          <a:xfrm>
            <a:off x="2267744" y="5771575"/>
            <a:ext cx="440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highlight>
                  <a:srgbClr val="FFFF00"/>
                </a:highlight>
              </a:rPr>
              <a:t>Voir misenpage.html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228BA7-D8EF-A88A-616D-B7A103F25A11}"/>
              </a:ext>
            </a:extLst>
          </p:cNvPr>
          <p:cNvSpPr/>
          <p:nvPr/>
        </p:nvSpPr>
        <p:spPr>
          <a:xfrm rot="782792">
            <a:off x="3981548" y="1129250"/>
            <a:ext cx="46392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Techno </a:t>
            </a:r>
            <a:r>
              <a:rPr lang="fr-FR" sz="54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delicate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B6ED7BF-3E8C-2056-59F2-EB81EC5FB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048176"/>
            <a:ext cx="6326421" cy="366862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E18F19D-E57D-5AEE-78D3-2403F8AC5EE6}"/>
              </a:ext>
            </a:extLst>
          </p:cNvPr>
          <p:cNvSpPr txBox="1"/>
          <p:nvPr/>
        </p:nvSpPr>
        <p:spPr>
          <a:xfrm>
            <a:off x="1166741" y="1706960"/>
            <a:ext cx="401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MAIS RESULTATS PROPRES SI MAITRISEE</a:t>
            </a:r>
          </a:p>
        </p:txBody>
      </p:sp>
    </p:spTree>
    <p:extLst>
      <p:ext uri="{BB962C8B-B14F-4D97-AF65-F5344CB8AC3E}">
        <p14:creationId xmlns:p14="http://schemas.microsoft.com/office/powerpoint/2010/main" val="4277959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28</a:t>
            </a:fld>
            <a:endParaRPr lang="fr-F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4083748"/>
            <a:ext cx="2714644" cy="1175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5286388"/>
            <a:ext cx="6429420" cy="1021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785794"/>
            <a:ext cx="3469846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14942" y="928670"/>
            <a:ext cx="3286148" cy="4035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ZoneTexte 8"/>
          <p:cNvSpPr txBox="1"/>
          <p:nvPr/>
        </p:nvSpPr>
        <p:spPr>
          <a:xfrm>
            <a:off x="476908" y="500042"/>
            <a:ext cx="245201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b="1" dirty="0"/>
              <a:t>TECHNOLOGIE FLEXBOX</a:t>
            </a:r>
          </a:p>
        </p:txBody>
      </p:sp>
      <p:sp>
        <p:nvSpPr>
          <p:cNvPr id="10" name="Forme libre 9"/>
          <p:cNvSpPr/>
          <p:nvPr/>
        </p:nvSpPr>
        <p:spPr>
          <a:xfrm rot="21281781">
            <a:off x="173966" y="2347822"/>
            <a:ext cx="754696" cy="1866996"/>
          </a:xfrm>
          <a:custGeom>
            <a:avLst/>
            <a:gdLst>
              <a:gd name="connsiteX0" fmla="*/ 628291 w 628291"/>
              <a:gd name="connsiteY0" fmla="*/ 67574 h 1715220"/>
              <a:gd name="connsiteX1" fmla="*/ 326366 w 628291"/>
              <a:gd name="connsiteY1" fmla="*/ 7189 h 1715220"/>
              <a:gd name="connsiteX2" fmla="*/ 136585 w 628291"/>
              <a:gd name="connsiteY2" fmla="*/ 110706 h 1715220"/>
              <a:gd name="connsiteX3" fmla="*/ 50321 w 628291"/>
              <a:gd name="connsiteY3" fmla="*/ 473016 h 1715220"/>
              <a:gd name="connsiteX4" fmla="*/ 7189 w 628291"/>
              <a:gd name="connsiteY4" fmla="*/ 1283899 h 1715220"/>
              <a:gd name="connsiteX5" fmla="*/ 93453 w 628291"/>
              <a:gd name="connsiteY5" fmla="*/ 1715220 h 1715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8291" h="1715220">
                <a:moveTo>
                  <a:pt x="628291" y="67574"/>
                </a:moveTo>
                <a:cubicBezTo>
                  <a:pt x="518304" y="33787"/>
                  <a:pt x="408317" y="0"/>
                  <a:pt x="326366" y="7189"/>
                </a:cubicBezTo>
                <a:cubicBezTo>
                  <a:pt x="244415" y="14378"/>
                  <a:pt x="182592" y="33068"/>
                  <a:pt x="136585" y="110706"/>
                </a:cubicBezTo>
                <a:cubicBezTo>
                  <a:pt x="90578" y="188344"/>
                  <a:pt x="71887" y="277484"/>
                  <a:pt x="50321" y="473016"/>
                </a:cubicBezTo>
                <a:cubicBezTo>
                  <a:pt x="28755" y="668548"/>
                  <a:pt x="0" y="1076865"/>
                  <a:pt x="7189" y="1283899"/>
                </a:cubicBezTo>
                <a:cubicBezTo>
                  <a:pt x="14378" y="1490933"/>
                  <a:pt x="53915" y="1603076"/>
                  <a:pt x="93453" y="1715220"/>
                </a:cubicBezTo>
              </a:path>
            </a:pathLst>
          </a:cu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orme libre 10"/>
          <p:cNvSpPr/>
          <p:nvPr/>
        </p:nvSpPr>
        <p:spPr>
          <a:xfrm>
            <a:off x="785786" y="2779144"/>
            <a:ext cx="3523108" cy="1435674"/>
          </a:xfrm>
          <a:custGeom>
            <a:avLst/>
            <a:gdLst>
              <a:gd name="connsiteX0" fmla="*/ 2501660 w 3196086"/>
              <a:gd name="connsiteY0" fmla="*/ 7188 h 1232139"/>
              <a:gd name="connsiteX1" fmla="*/ 2976113 w 3196086"/>
              <a:gd name="connsiteY1" fmla="*/ 84826 h 1232139"/>
              <a:gd name="connsiteX2" fmla="*/ 3148641 w 3196086"/>
              <a:gd name="connsiteY2" fmla="*/ 516147 h 1232139"/>
              <a:gd name="connsiteX3" fmla="*/ 2691441 w 3196086"/>
              <a:gd name="connsiteY3" fmla="*/ 835324 h 1232139"/>
              <a:gd name="connsiteX4" fmla="*/ 1630392 w 3196086"/>
              <a:gd name="connsiteY4" fmla="*/ 861203 h 1232139"/>
              <a:gd name="connsiteX5" fmla="*/ 931652 w 3196086"/>
              <a:gd name="connsiteY5" fmla="*/ 861203 h 1232139"/>
              <a:gd name="connsiteX6" fmla="*/ 0 w 3196086"/>
              <a:gd name="connsiteY6" fmla="*/ 1232139 h 123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6086" h="1232139">
                <a:moveTo>
                  <a:pt x="2501660" y="7188"/>
                </a:moveTo>
                <a:cubicBezTo>
                  <a:pt x="2684971" y="3594"/>
                  <a:pt x="2868283" y="0"/>
                  <a:pt x="2976113" y="84826"/>
                </a:cubicBezTo>
                <a:cubicBezTo>
                  <a:pt x="3083943" y="169653"/>
                  <a:pt x="3196086" y="391064"/>
                  <a:pt x="3148641" y="516147"/>
                </a:cubicBezTo>
                <a:cubicBezTo>
                  <a:pt x="3101196" y="641230"/>
                  <a:pt x="2944482" y="777815"/>
                  <a:pt x="2691441" y="835324"/>
                </a:cubicBezTo>
                <a:cubicBezTo>
                  <a:pt x="2438400" y="892833"/>
                  <a:pt x="1923690" y="856890"/>
                  <a:pt x="1630392" y="861203"/>
                </a:cubicBezTo>
                <a:cubicBezTo>
                  <a:pt x="1337094" y="865516"/>
                  <a:pt x="1203384" y="799380"/>
                  <a:pt x="931652" y="861203"/>
                </a:cubicBezTo>
                <a:cubicBezTo>
                  <a:pt x="659920" y="923026"/>
                  <a:pt x="329960" y="1077582"/>
                  <a:pt x="0" y="1232139"/>
                </a:cubicBezTo>
              </a:path>
            </a:pathLst>
          </a:cu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orme libre 11"/>
          <p:cNvSpPr/>
          <p:nvPr/>
        </p:nvSpPr>
        <p:spPr>
          <a:xfrm>
            <a:off x="1630392" y="3786190"/>
            <a:ext cx="646982" cy="500066"/>
          </a:xfrm>
          <a:custGeom>
            <a:avLst/>
            <a:gdLst>
              <a:gd name="connsiteX0" fmla="*/ 646982 w 646982"/>
              <a:gd name="connsiteY0" fmla="*/ 0 h 577970"/>
              <a:gd name="connsiteX1" fmla="*/ 293299 w 646982"/>
              <a:gd name="connsiteY1" fmla="*/ 129396 h 577970"/>
              <a:gd name="connsiteX2" fmla="*/ 129397 w 646982"/>
              <a:gd name="connsiteY2" fmla="*/ 319177 h 577970"/>
              <a:gd name="connsiteX3" fmla="*/ 0 w 646982"/>
              <a:gd name="connsiteY3" fmla="*/ 577970 h 577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982" h="577970">
                <a:moveTo>
                  <a:pt x="646982" y="0"/>
                </a:moveTo>
                <a:cubicBezTo>
                  <a:pt x="513272" y="38100"/>
                  <a:pt x="379563" y="76200"/>
                  <a:pt x="293299" y="129396"/>
                </a:cubicBezTo>
                <a:cubicBezTo>
                  <a:pt x="207035" y="182592"/>
                  <a:pt x="178280" y="244415"/>
                  <a:pt x="129397" y="319177"/>
                </a:cubicBezTo>
                <a:cubicBezTo>
                  <a:pt x="80514" y="393939"/>
                  <a:pt x="40257" y="485954"/>
                  <a:pt x="0" y="577970"/>
                </a:cubicBezTo>
              </a:path>
            </a:pathLst>
          </a:cu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orme libre 12"/>
          <p:cNvSpPr/>
          <p:nvPr/>
        </p:nvSpPr>
        <p:spPr>
          <a:xfrm>
            <a:off x="2332008" y="3786190"/>
            <a:ext cx="764875" cy="475259"/>
          </a:xfrm>
          <a:custGeom>
            <a:avLst/>
            <a:gdLst>
              <a:gd name="connsiteX0" fmla="*/ 764875 w 764875"/>
              <a:gd name="connsiteY0" fmla="*/ 0 h 603849"/>
              <a:gd name="connsiteX1" fmla="*/ 264543 w 764875"/>
              <a:gd name="connsiteY1" fmla="*/ 34506 h 603849"/>
              <a:gd name="connsiteX2" fmla="*/ 92015 w 764875"/>
              <a:gd name="connsiteY2" fmla="*/ 112143 h 603849"/>
              <a:gd name="connsiteX3" fmla="*/ 14377 w 764875"/>
              <a:gd name="connsiteY3" fmla="*/ 284672 h 603849"/>
              <a:gd name="connsiteX4" fmla="*/ 5750 w 764875"/>
              <a:gd name="connsiteY4" fmla="*/ 603849 h 60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4875" h="603849">
                <a:moveTo>
                  <a:pt x="764875" y="0"/>
                </a:moveTo>
                <a:cubicBezTo>
                  <a:pt x="570780" y="7908"/>
                  <a:pt x="376686" y="15816"/>
                  <a:pt x="264543" y="34506"/>
                </a:cubicBezTo>
                <a:cubicBezTo>
                  <a:pt x="152400" y="53196"/>
                  <a:pt x="133709" y="70449"/>
                  <a:pt x="92015" y="112143"/>
                </a:cubicBezTo>
                <a:cubicBezTo>
                  <a:pt x="50321" y="153837"/>
                  <a:pt x="28754" y="202721"/>
                  <a:pt x="14377" y="284672"/>
                </a:cubicBezTo>
                <a:cubicBezTo>
                  <a:pt x="0" y="366623"/>
                  <a:pt x="2875" y="485236"/>
                  <a:pt x="5750" y="603849"/>
                </a:cubicBezTo>
              </a:path>
            </a:pathLst>
          </a:cu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 droite 13"/>
          <p:cNvSpPr/>
          <p:nvPr/>
        </p:nvSpPr>
        <p:spPr>
          <a:xfrm>
            <a:off x="4929190" y="1285860"/>
            <a:ext cx="428628" cy="3571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 droite 14"/>
          <p:cNvSpPr/>
          <p:nvPr/>
        </p:nvSpPr>
        <p:spPr>
          <a:xfrm>
            <a:off x="5072066" y="2643182"/>
            <a:ext cx="42862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5929322" y="1571612"/>
            <a:ext cx="1714512" cy="285752"/>
          </a:xfrm>
          <a:prstGeom prst="round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/>
          <p:cNvSpPr txBox="1"/>
          <p:nvPr/>
        </p:nvSpPr>
        <p:spPr>
          <a:xfrm>
            <a:off x="2643174" y="1214422"/>
            <a:ext cx="73609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HTML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7838520" y="1071546"/>
            <a:ext cx="5196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CSS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29</a:t>
            </a:fld>
            <a:endParaRPr lang="fr-F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908" y="3088571"/>
            <a:ext cx="2714644" cy="1175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53932" y="4941168"/>
            <a:ext cx="6429420" cy="1021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ZoneTexte 8"/>
          <p:cNvSpPr txBox="1"/>
          <p:nvPr/>
        </p:nvSpPr>
        <p:spPr>
          <a:xfrm>
            <a:off x="476908" y="500042"/>
            <a:ext cx="245201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b="1" dirty="0"/>
              <a:t>TECHNOLOGIE FLEXBOX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CEBE3B5-A031-2764-3BDE-A905DA5B5024}"/>
              </a:ext>
            </a:extLst>
          </p:cNvPr>
          <p:cNvSpPr txBox="1"/>
          <p:nvPr/>
        </p:nvSpPr>
        <p:spPr>
          <a:xfrm>
            <a:off x="1003010" y="1459113"/>
            <a:ext cx="71379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COMPOSER UNE PAGE WEB AVEC HTML ET CSS</a:t>
            </a:r>
          </a:p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AFIN D OBTENIR LES RESULTATS CI DESSOUS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F61CE61-12EA-0B30-B340-A17866113CA0}"/>
              </a:ext>
            </a:extLst>
          </p:cNvPr>
          <p:cNvSpPr txBox="1"/>
          <p:nvPr/>
        </p:nvSpPr>
        <p:spPr>
          <a:xfrm>
            <a:off x="3531202" y="4255493"/>
            <a:ext cx="49771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Modifier les paramètres CSS</a:t>
            </a:r>
          </a:p>
        </p:txBody>
      </p:sp>
    </p:spTree>
    <p:extLst>
      <p:ext uri="{BB962C8B-B14F-4D97-AF65-F5344CB8AC3E}">
        <p14:creationId xmlns:p14="http://schemas.microsoft.com/office/powerpoint/2010/main" val="1024776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30</a:t>
            </a:fld>
            <a:endParaRPr lang="fr-FR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928670"/>
            <a:ext cx="2000264" cy="2982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4000504"/>
            <a:ext cx="8001024" cy="2584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00364" y="714356"/>
            <a:ext cx="5445325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476908" y="500042"/>
            <a:ext cx="245201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b="1" dirty="0"/>
              <a:t>TECHNOLOGIE FLEXBOX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31</a:t>
            </a:fld>
            <a:endParaRPr lang="fr-FR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4000504"/>
            <a:ext cx="8001024" cy="2584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64" y="714356"/>
            <a:ext cx="5445325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476908" y="500042"/>
            <a:ext cx="245201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b="1" dirty="0"/>
              <a:t>TECHNOLOGIE FLEXBOX</a:t>
            </a: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928670"/>
            <a:ext cx="292895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20CDB-6ED8-4E3D-3385-732FED979311}"/>
              </a:ext>
            </a:extLst>
          </p:cNvPr>
          <p:cNvSpPr/>
          <p:nvPr/>
        </p:nvSpPr>
        <p:spPr>
          <a:xfrm rot="19739411">
            <a:off x="-263162" y="2967335"/>
            <a:ext cx="96703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FAIRE LE TP FLEX1 ETUDIANT.PDF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245784-D3A9-6510-4E1D-3920B1F0D1F9}"/>
              </a:ext>
            </a:extLst>
          </p:cNvPr>
          <p:cNvSpPr/>
          <p:nvPr/>
        </p:nvSpPr>
        <p:spPr>
          <a:xfrm>
            <a:off x="94556" y="1556792"/>
            <a:ext cx="8954887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PREPARATION DU REPERTOIRE</a:t>
            </a:r>
          </a:p>
          <a:p>
            <a:pPr algn="ctr"/>
            <a:r>
              <a:rPr lang="fr-F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DE</a:t>
            </a:r>
          </a:p>
          <a:p>
            <a:pPr algn="ctr"/>
            <a:r>
              <a:rPr lang="fr-F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DEVELLOPEMENT WEB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34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BAD696B-B9D6-6864-0CD8-40848E2E3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830746"/>
            <a:ext cx="2948145" cy="252958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E822585E-F2CB-0A50-3520-A15496212B17}"/>
              </a:ext>
            </a:extLst>
          </p:cNvPr>
          <p:cNvCxnSpPr>
            <a:cxnSpLocks/>
          </p:cNvCxnSpPr>
          <p:nvPr/>
        </p:nvCxnSpPr>
        <p:spPr>
          <a:xfrm flipH="1">
            <a:off x="1700517" y="1582423"/>
            <a:ext cx="171183" cy="408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C03A4A28-A4C5-B313-04B6-3584A0806478}"/>
              </a:ext>
            </a:extLst>
          </p:cNvPr>
          <p:cNvSpPr txBox="1"/>
          <p:nvPr/>
        </p:nvSpPr>
        <p:spPr>
          <a:xfrm>
            <a:off x="323528" y="663078"/>
            <a:ext cx="500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REPERTOIRE DE TRAVAIL DESIGN WEB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0DC6ABC-717B-A8A8-BFCD-8EAFE2B07E6E}"/>
              </a:ext>
            </a:extLst>
          </p:cNvPr>
          <p:cNvCxnSpPr/>
          <p:nvPr/>
        </p:nvCxnSpPr>
        <p:spPr>
          <a:xfrm>
            <a:off x="2483768" y="2204864"/>
            <a:ext cx="27363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D8F1F702-7EF7-918D-8928-4ED304D81E43}"/>
              </a:ext>
            </a:extLst>
          </p:cNvPr>
          <p:cNvSpPr txBox="1"/>
          <p:nvPr/>
        </p:nvSpPr>
        <p:spPr>
          <a:xfrm>
            <a:off x="5254040" y="1879537"/>
            <a:ext cx="2495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styles.css  …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F571093E-0E5F-76ED-C591-24F163A97469}"/>
              </a:ext>
            </a:extLst>
          </p:cNvPr>
          <p:cNvCxnSpPr/>
          <p:nvPr/>
        </p:nvCxnSpPr>
        <p:spPr>
          <a:xfrm>
            <a:off x="3124200" y="2780928"/>
            <a:ext cx="9172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F6E0EAE7-355A-C2A6-AAB9-45A09094D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598" y="2430995"/>
            <a:ext cx="1350951" cy="716453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349AD734-D5FB-1D48-CFDA-6B0BC9BCFBE6}"/>
              </a:ext>
            </a:extLst>
          </p:cNvPr>
          <p:cNvSpPr txBox="1"/>
          <p:nvPr/>
        </p:nvSpPr>
        <p:spPr>
          <a:xfrm>
            <a:off x="5587313" y="2496066"/>
            <a:ext cx="1803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.jpg .png …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C58D9264-8A1F-34D3-4497-A19CE7C8E023}"/>
              </a:ext>
            </a:extLst>
          </p:cNvPr>
          <p:cNvCxnSpPr/>
          <p:nvPr/>
        </p:nvCxnSpPr>
        <p:spPr>
          <a:xfrm>
            <a:off x="2373664" y="3429000"/>
            <a:ext cx="35664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599FFEE5-E391-05F8-29FF-7EE36F0D3A77}"/>
              </a:ext>
            </a:extLst>
          </p:cNvPr>
          <p:cNvSpPr txBox="1"/>
          <p:nvPr/>
        </p:nvSpPr>
        <p:spPr>
          <a:xfrm>
            <a:off x="5972120" y="2929695"/>
            <a:ext cx="1181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b="1" dirty="0"/>
              <a:t>… .</a:t>
            </a:r>
            <a:r>
              <a:rPr lang="fr-FR" sz="4000" b="1" dirty="0" err="1"/>
              <a:t>js</a:t>
            </a:r>
            <a:endParaRPr lang="fr-FR" sz="4000" b="1" dirty="0"/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160F665F-6EB6-E104-DF34-5112D13E0CB3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940152" y="1285310"/>
            <a:ext cx="213630" cy="594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324FAC9B-C622-F423-2768-61DD0B507B5F}"/>
              </a:ext>
            </a:extLst>
          </p:cNvPr>
          <p:cNvSpPr txBox="1"/>
          <p:nvPr/>
        </p:nvSpPr>
        <p:spPr>
          <a:xfrm>
            <a:off x="6153782" y="869811"/>
            <a:ext cx="24744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Charte graphique,</a:t>
            </a:r>
          </a:p>
          <a:p>
            <a:r>
              <a:rPr lang="fr-FR" sz="2400" b="1" dirty="0"/>
              <a:t>embellissement</a:t>
            </a:r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5DBF28EC-825C-DA63-2521-31302EAF2775}"/>
              </a:ext>
            </a:extLst>
          </p:cNvPr>
          <p:cNvCxnSpPr/>
          <p:nvPr/>
        </p:nvCxnSpPr>
        <p:spPr>
          <a:xfrm flipH="1" flipV="1">
            <a:off x="6317032" y="3637581"/>
            <a:ext cx="236168" cy="511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5380E843-68D8-EE51-0F96-A92D9D9CF8A3}"/>
              </a:ext>
            </a:extLst>
          </p:cNvPr>
          <p:cNvSpPr txBox="1"/>
          <p:nvPr/>
        </p:nvSpPr>
        <p:spPr>
          <a:xfrm>
            <a:off x="5868144" y="4149772"/>
            <a:ext cx="30521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Animations,</a:t>
            </a:r>
          </a:p>
          <a:p>
            <a:r>
              <a:rPr lang="fr-FR" sz="2400" b="1" dirty="0"/>
              <a:t>contrôle de formulaire</a:t>
            </a:r>
          </a:p>
          <a:p>
            <a:r>
              <a:rPr lang="fr-FR" sz="2400" b="1" dirty="0" err="1"/>
              <a:t>etc</a:t>
            </a:r>
            <a:r>
              <a:rPr lang="fr-FR" sz="2400" b="1" dirty="0"/>
              <a:t> …</a:t>
            </a:r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9AA52585-3882-E7ED-71CE-3ED19F2D5ECD}"/>
              </a:ext>
            </a:extLst>
          </p:cNvPr>
          <p:cNvCxnSpPr/>
          <p:nvPr/>
        </p:nvCxnSpPr>
        <p:spPr>
          <a:xfrm flipV="1">
            <a:off x="1691680" y="4149080"/>
            <a:ext cx="360040" cy="600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38AC1378-9931-6A4D-5B38-F13EB049463D}"/>
              </a:ext>
            </a:extLst>
          </p:cNvPr>
          <p:cNvSpPr txBox="1"/>
          <p:nvPr/>
        </p:nvSpPr>
        <p:spPr>
          <a:xfrm>
            <a:off x="744851" y="4731826"/>
            <a:ext cx="42425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Première page servie par</a:t>
            </a:r>
            <a:br>
              <a:rPr lang="fr-FR" sz="2400" b="1" dirty="0"/>
            </a:br>
            <a:r>
              <a:rPr lang="fr-FR" sz="2400" b="1" dirty="0"/>
              <a:t>le serveur web au client</a:t>
            </a:r>
            <a:br>
              <a:rPr lang="fr-FR" sz="2400" b="1" dirty="0"/>
            </a:br>
            <a:r>
              <a:rPr lang="fr-FR" sz="2400" b="1" dirty="0" err="1"/>
              <a:t>éventuellment</a:t>
            </a:r>
            <a:r>
              <a:rPr lang="fr-FR" sz="2400" b="1" dirty="0"/>
              <a:t> générée par PHP</a:t>
            </a:r>
          </a:p>
          <a:p>
            <a:r>
              <a:rPr lang="fr-FR" sz="2400" b="1" dirty="0"/>
              <a:t>C’EST DU CONTENU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834E168F-79D4-3FCF-5DBD-6C3CD396153C}"/>
              </a:ext>
            </a:extLst>
          </p:cNvPr>
          <p:cNvCxnSpPr/>
          <p:nvPr/>
        </p:nvCxnSpPr>
        <p:spPr>
          <a:xfrm>
            <a:off x="457200" y="1124743"/>
            <a:ext cx="442392" cy="576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7E19741F-6AED-D663-AA33-A9D2D0E2592A}"/>
              </a:ext>
            </a:extLst>
          </p:cNvPr>
          <p:cNvSpPr txBox="1"/>
          <p:nvPr/>
        </p:nvSpPr>
        <p:spPr>
          <a:xfrm>
            <a:off x="1703119" y="1181663"/>
            <a:ext cx="2649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Sous-répertoires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1DA45D-135F-329A-9500-244AC61917F1}"/>
              </a:ext>
            </a:extLst>
          </p:cNvPr>
          <p:cNvSpPr/>
          <p:nvPr/>
        </p:nvSpPr>
        <p:spPr>
          <a:xfrm>
            <a:off x="935596" y="500042"/>
            <a:ext cx="72728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BOOTSTRAP 4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0FFA2D3-BEE8-E5E9-4CE7-48FCF72AE436}"/>
              </a:ext>
            </a:extLst>
          </p:cNvPr>
          <p:cNvSpPr txBox="1"/>
          <p:nvPr/>
        </p:nvSpPr>
        <p:spPr>
          <a:xfrm>
            <a:off x="1432454" y="2454899"/>
            <a:ext cx="6279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DEFINITION D’UN FRAMEWORK</a:t>
            </a:r>
          </a:p>
        </p:txBody>
      </p:sp>
    </p:spTree>
    <p:extLst>
      <p:ext uri="{BB962C8B-B14F-4D97-AF65-F5344CB8AC3E}">
        <p14:creationId xmlns:p14="http://schemas.microsoft.com/office/powerpoint/2010/main" val="13958666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36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BAD696B-B9D6-6864-0CD8-40848E2E3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830746"/>
            <a:ext cx="2948145" cy="252958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E822585E-F2CB-0A50-3520-A15496212B1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267744" y="1124743"/>
            <a:ext cx="555860" cy="576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C03A4A28-A4C5-B313-04B6-3584A0806478}"/>
              </a:ext>
            </a:extLst>
          </p:cNvPr>
          <p:cNvSpPr txBox="1"/>
          <p:nvPr/>
        </p:nvSpPr>
        <p:spPr>
          <a:xfrm>
            <a:off x="323528" y="663078"/>
            <a:ext cx="500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REPERTOIRE DE TRAVAIL DESIGN WEB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0DC6ABC-717B-A8A8-BFCD-8EAFE2B07E6E}"/>
              </a:ext>
            </a:extLst>
          </p:cNvPr>
          <p:cNvCxnSpPr/>
          <p:nvPr/>
        </p:nvCxnSpPr>
        <p:spPr>
          <a:xfrm>
            <a:off x="2483768" y="2204864"/>
            <a:ext cx="27363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D8F1F702-7EF7-918D-8928-4ED304D81E43}"/>
              </a:ext>
            </a:extLst>
          </p:cNvPr>
          <p:cNvSpPr txBox="1"/>
          <p:nvPr/>
        </p:nvSpPr>
        <p:spPr>
          <a:xfrm>
            <a:off x="5254040" y="1879537"/>
            <a:ext cx="2495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styles.css  …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F571093E-0E5F-76ED-C591-24F163A97469}"/>
              </a:ext>
            </a:extLst>
          </p:cNvPr>
          <p:cNvCxnSpPr/>
          <p:nvPr/>
        </p:nvCxnSpPr>
        <p:spPr>
          <a:xfrm>
            <a:off x="3124200" y="2780928"/>
            <a:ext cx="9172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F6E0EAE7-355A-C2A6-AAB9-45A09094D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598" y="2430995"/>
            <a:ext cx="1350951" cy="716453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349AD734-D5FB-1D48-CFDA-6B0BC9BCFBE6}"/>
              </a:ext>
            </a:extLst>
          </p:cNvPr>
          <p:cNvSpPr txBox="1"/>
          <p:nvPr/>
        </p:nvSpPr>
        <p:spPr>
          <a:xfrm>
            <a:off x="5587313" y="2496066"/>
            <a:ext cx="1803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.jpg .png …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C58D9264-8A1F-34D3-4497-A19CE7C8E023}"/>
              </a:ext>
            </a:extLst>
          </p:cNvPr>
          <p:cNvCxnSpPr/>
          <p:nvPr/>
        </p:nvCxnSpPr>
        <p:spPr>
          <a:xfrm>
            <a:off x="2373664" y="3429000"/>
            <a:ext cx="35664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599FFEE5-E391-05F8-29FF-7EE36F0D3A77}"/>
              </a:ext>
            </a:extLst>
          </p:cNvPr>
          <p:cNvSpPr txBox="1"/>
          <p:nvPr/>
        </p:nvSpPr>
        <p:spPr>
          <a:xfrm>
            <a:off x="5972120" y="2929695"/>
            <a:ext cx="1181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b="1" dirty="0"/>
              <a:t>… .</a:t>
            </a:r>
            <a:r>
              <a:rPr lang="fr-FR" sz="4000" b="1" dirty="0" err="1"/>
              <a:t>js</a:t>
            </a:r>
            <a:endParaRPr lang="fr-FR" sz="4000" b="1" dirty="0"/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160F665F-6EB6-E104-DF34-5112D13E0CB3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940152" y="1285310"/>
            <a:ext cx="213630" cy="594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324FAC9B-C622-F423-2768-61DD0B507B5F}"/>
              </a:ext>
            </a:extLst>
          </p:cNvPr>
          <p:cNvSpPr txBox="1"/>
          <p:nvPr/>
        </p:nvSpPr>
        <p:spPr>
          <a:xfrm>
            <a:off x="6153782" y="869811"/>
            <a:ext cx="24744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Charte graphique,</a:t>
            </a:r>
          </a:p>
          <a:p>
            <a:r>
              <a:rPr lang="fr-FR" sz="2400" b="1" dirty="0"/>
              <a:t>embellissement</a:t>
            </a:r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5DBF28EC-825C-DA63-2521-31302EAF2775}"/>
              </a:ext>
            </a:extLst>
          </p:cNvPr>
          <p:cNvCxnSpPr/>
          <p:nvPr/>
        </p:nvCxnSpPr>
        <p:spPr>
          <a:xfrm flipH="1" flipV="1">
            <a:off x="6317032" y="3637581"/>
            <a:ext cx="236168" cy="511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5380E843-68D8-EE51-0F96-A92D9D9CF8A3}"/>
              </a:ext>
            </a:extLst>
          </p:cNvPr>
          <p:cNvSpPr txBox="1"/>
          <p:nvPr/>
        </p:nvSpPr>
        <p:spPr>
          <a:xfrm>
            <a:off x="5868144" y="4149772"/>
            <a:ext cx="30521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Animations,</a:t>
            </a:r>
          </a:p>
          <a:p>
            <a:r>
              <a:rPr lang="fr-FR" sz="2400" b="1" dirty="0"/>
              <a:t>contrôle de formulaire</a:t>
            </a:r>
          </a:p>
          <a:p>
            <a:r>
              <a:rPr lang="fr-FR" sz="2400" b="1" dirty="0" err="1"/>
              <a:t>etc</a:t>
            </a:r>
            <a:r>
              <a:rPr lang="fr-FR" sz="2400" b="1" dirty="0"/>
              <a:t> …</a:t>
            </a:r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9AA52585-3882-E7ED-71CE-3ED19F2D5ECD}"/>
              </a:ext>
            </a:extLst>
          </p:cNvPr>
          <p:cNvCxnSpPr/>
          <p:nvPr/>
        </p:nvCxnSpPr>
        <p:spPr>
          <a:xfrm flipV="1">
            <a:off x="1691680" y="4149080"/>
            <a:ext cx="360040" cy="600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38AC1378-9931-6A4D-5B38-F13EB049463D}"/>
              </a:ext>
            </a:extLst>
          </p:cNvPr>
          <p:cNvSpPr txBox="1"/>
          <p:nvPr/>
        </p:nvSpPr>
        <p:spPr>
          <a:xfrm>
            <a:off x="744851" y="4731826"/>
            <a:ext cx="42425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Première page servie par</a:t>
            </a:r>
            <a:br>
              <a:rPr lang="fr-FR" sz="2400" b="1" dirty="0"/>
            </a:br>
            <a:r>
              <a:rPr lang="fr-FR" sz="2400" b="1" dirty="0"/>
              <a:t>le serveur web au client</a:t>
            </a:r>
            <a:br>
              <a:rPr lang="fr-FR" sz="2400" b="1" dirty="0"/>
            </a:br>
            <a:r>
              <a:rPr lang="fr-FR" sz="2400" b="1" dirty="0" err="1"/>
              <a:t>éventuellment</a:t>
            </a:r>
            <a:r>
              <a:rPr lang="fr-FR" sz="2400" b="1" dirty="0"/>
              <a:t> générée par PHP</a:t>
            </a:r>
          </a:p>
        </p:txBody>
      </p:sp>
    </p:spTree>
    <p:extLst>
      <p:ext uri="{BB962C8B-B14F-4D97-AF65-F5344CB8AC3E}">
        <p14:creationId xmlns:p14="http://schemas.microsoft.com/office/powerpoint/2010/main" val="30256728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37</a:t>
            </a:fld>
            <a:endParaRPr lang="fr-F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404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FRONT END DEV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dnarelli2022BTSSNIR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FA472-388B-4331-8764-DC7C96C7297D}" type="slidenum">
              <a:rPr lang="fr-FR" smtClean="0"/>
              <a:pPr/>
              <a:t>38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2500298" y="2786058"/>
            <a:ext cx="433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Fin provisoire du support de cours front-end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792</Words>
  <Application>Microsoft Office PowerPoint</Application>
  <PresentationFormat>Affichage à l'écran (4:3)</PresentationFormat>
  <Paragraphs>272</Paragraphs>
  <Slides>38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1" baseType="lpstr">
      <vt:lpstr>Arial</vt:lpstr>
      <vt:lpstr>Calibri</vt:lpstr>
      <vt:lpstr>Thème Office</vt:lpstr>
      <vt:lpstr>FRONT-END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  <vt:lpstr>FRONT END DEV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FRONT-END DEV</dc:title>
  <dc:creator>didier NARELLI</dc:creator>
  <cp:lastModifiedBy>DN</cp:lastModifiedBy>
  <cp:revision>67</cp:revision>
  <dcterms:created xsi:type="dcterms:W3CDTF">2022-10-12T15:00:03Z</dcterms:created>
  <dcterms:modified xsi:type="dcterms:W3CDTF">2023-09-11T21:19:23Z</dcterms:modified>
</cp:coreProperties>
</file>